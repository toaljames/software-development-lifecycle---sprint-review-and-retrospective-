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61" r:id="rId4"/>
    <p:sldId id="259" r:id="rId5"/>
    <p:sldId id="260"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FFB722-1E5A-4D4E-883D-35C10F5F6512}" v="3" dt="2025-10-15T00:35:30.8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50" d="100"/>
          <a:sy n="150" d="100"/>
        </p:scale>
        <p:origin x="62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 P" userId="64be196106ebad27" providerId="LiveId" clId="{86DB8FFF-6582-4EFF-9CE0-780A0BF84007}"/>
    <pc:docChg chg="undo custSel modSld">
      <pc:chgData name="J P" userId="64be196106ebad27" providerId="LiveId" clId="{86DB8FFF-6582-4EFF-9CE0-780A0BF84007}" dt="2025-10-15T00:37:03.120" v="36" actId="20577"/>
      <pc:docMkLst>
        <pc:docMk/>
      </pc:docMkLst>
      <pc:sldChg chg="modSp mod">
        <pc:chgData name="J P" userId="64be196106ebad27" providerId="LiveId" clId="{86DB8FFF-6582-4EFF-9CE0-780A0BF84007}" dt="2025-10-15T00:34:58.740" v="11" actId="20577"/>
        <pc:sldMkLst>
          <pc:docMk/>
          <pc:sldMk cId="1969420689" sldId="257"/>
        </pc:sldMkLst>
        <pc:graphicFrameChg chg="mod modGraphic">
          <ac:chgData name="J P" userId="64be196106ebad27" providerId="LiveId" clId="{86DB8FFF-6582-4EFF-9CE0-780A0BF84007}" dt="2025-10-15T00:34:58.740" v="11" actId="20577"/>
          <ac:graphicFrameMkLst>
            <pc:docMk/>
            <pc:sldMk cId="1969420689" sldId="257"/>
            <ac:graphicFrameMk id="34" creationId="{7E60EDEF-19F8-64D3-CB2F-B1D7D14496DE}"/>
          </ac:graphicFrameMkLst>
        </pc:graphicFrameChg>
      </pc:sldChg>
      <pc:sldChg chg="modSp mod">
        <pc:chgData name="J P" userId="64be196106ebad27" providerId="LiveId" clId="{86DB8FFF-6582-4EFF-9CE0-780A0BF84007}" dt="2025-10-15T00:35:30.890" v="16"/>
        <pc:sldMkLst>
          <pc:docMk/>
          <pc:sldMk cId="606923990" sldId="261"/>
        </pc:sldMkLst>
        <pc:graphicFrameChg chg="mod modGraphic">
          <ac:chgData name="J P" userId="64be196106ebad27" providerId="LiveId" clId="{86DB8FFF-6582-4EFF-9CE0-780A0BF84007}" dt="2025-10-15T00:35:30.890" v="16"/>
          <ac:graphicFrameMkLst>
            <pc:docMk/>
            <pc:sldMk cId="606923990" sldId="261"/>
            <ac:graphicFrameMk id="34" creationId="{6A9AF434-2ECB-EF44-82A4-372D06EE59EC}"/>
          </ac:graphicFrameMkLst>
        </pc:graphicFrameChg>
      </pc:sldChg>
      <pc:sldChg chg="modSp mod">
        <pc:chgData name="J P" userId="64be196106ebad27" providerId="LiveId" clId="{86DB8FFF-6582-4EFF-9CE0-780A0BF84007}" dt="2025-10-15T00:36:33.770" v="32"/>
        <pc:sldMkLst>
          <pc:docMk/>
          <pc:sldMk cId="2751500810" sldId="262"/>
        </pc:sldMkLst>
        <pc:spChg chg="mod">
          <ac:chgData name="J P" userId="64be196106ebad27" providerId="LiveId" clId="{86DB8FFF-6582-4EFF-9CE0-780A0BF84007}" dt="2025-10-15T00:36:33.770" v="32"/>
          <ac:spMkLst>
            <pc:docMk/>
            <pc:sldMk cId="2751500810" sldId="262"/>
            <ac:spMk id="3" creationId="{8E8F3F16-1471-B36B-451C-8254DE74969C}"/>
          </ac:spMkLst>
        </pc:spChg>
      </pc:sldChg>
      <pc:sldChg chg="modSp mod">
        <pc:chgData name="J P" userId="64be196106ebad27" providerId="LiveId" clId="{86DB8FFF-6582-4EFF-9CE0-780A0BF84007}" dt="2025-10-15T00:37:03.120" v="36" actId="20577"/>
        <pc:sldMkLst>
          <pc:docMk/>
          <pc:sldMk cId="2902901122" sldId="264"/>
        </pc:sldMkLst>
        <pc:spChg chg="mod">
          <ac:chgData name="J P" userId="64be196106ebad27" providerId="LiveId" clId="{86DB8FFF-6582-4EFF-9CE0-780A0BF84007}" dt="2025-10-15T00:37:03.120" v="36" actId="20577"/>
          <ac:spMkLst>
            <pc:docMk/>
            <pc:sldMk cId="2902901122" sldId="264"/>
            <ac:spMk id="3" creationId="{D50CB943-2C83-AB0E-EB6E-4071EDA65712}"/>
          </ac:spMkLst>
        </pc:spChg>
      </pc:sldChg>
    </pc:docChg>
  </pc:docChgLst>
</pc:chgInfo>
</file>

<file path=ppt/diagrams/_rels/data3.xml.rels><?xml version="1.0" encoding="UTF-8" standalone="yes"?>
<Relationships xmlns="http://schemas.openxmlformats.org/package/2006/relationships"><Relationship Id="rId2" Type="http://schemas.openxmlformats.org/officeDocument/2006/relationships/hyperlink" Target="https://www.knowledgehut.com/blog/agile/scrum-master-as-" TargetMode="External"/><Relationship Id="rId1" Type="http://schemas.openxmlformats.org/officeDocument/2006/relationships/hyperlink" Target="https://asana.com/resources/product-owner" TargetMode="External"/></Relationships>
</file>

<file path=ppt/diagrams/_rels/drawing3.xml.rels><?xml version="1.0" encoding="UTF-8" standalone="yes"?>
<Relationships xmlns="http://schemas.openxmlformats.org/package/2006/relationships"><Relationship Id="rId2" Type="http://schemas.openxmlformats.org/officeDocument/2006/relationships/hyperlink" Target="https://www.knowledgehut.com/blog/agile/scrum-master-as-" TargetMode="External"/><Relationship Id="rId1" Type="http://schemas.openxmlformats.org/officeDocument/2006/relationships/hyperlink" Target="https://asana.com/resources/product-owner"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5CD3A9-67F5-4C5E-BF7B-4D545F4EAE59}"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025F3834-1816-4277-A257-97B4925E423F}">
      <dgm:prSet/>
      <dgm:spPr/>
      <dgm:t>
        <a:bodyPr/>
        <a:lstStyle/>
        <a:p>
          <a:r>
            <a:rPr lang="en-US"/>
            <a:t>Product Owner</a:t>
          </a:r>
        </a:p>
      </dgm:t>
    </dgm:pt>
    <dgm:pt modelId="{42AE39E5-9092-4DA6-A3C4-0719383C5384}" type="parTrans" cxnId="{8ED065C0-3736-48A2-9B96-13C1035D0B99}">
      <dgm:prSet/>
      <dgm:spPr/>
      <dgm:t>
        <a:bodyPr/>
        <a:lstStyle/>
        <a:p>
          <a:endParaRPr lang="en-US"/>
        </a:p>
      </dgm:t>
    </dgm:pt>
    <dgm:pt modelId="{37B99D79-23A8-46DB-8C45-B603F591E04C}" type="sibTrans" cxnId="{8ED065C0-3736-48A2-9B96-13C1035D0B99}">
      <dgm:prSet/>
      <dgm:spPr/>
      <dgm:t>
        <a:bodyPr/>
        <a:lstStyle/>
        <a:p>
          <a:endParaRPr lang="en-US"/>
        </a:p>
      </dgm:t>
    </dgm:pt>
    <dgm:pt modelId="{39543783-C2D3-40E8-A68E-4F88EEC26612}">
      <dgm:prSet/>
      <dgm:spPr/>
      <dgm:t>
        <a:bodyPr/>
        <a:lstStyle/>
        <a:p>
          <a:r>
            <a:rPr lang="en-US" dirty="0"/>
            <a:t>The product owner represents the customer or business, they are responsible for defining the ‘what’ and managing product backlog (Cobb, 2023;Asana, 2025)</a:t>
          </a:r>
        </a:p>
      </dgm:t>
    </dgm:pt>
    <dgm:pt modelId="{42E77B10-35F8-4B56-BA70-35CA81F95188}" type="parTrans" cxnId="{1EDD8E45-2DF8-4F98-B5E1-F22E15BD3B49}">
      <dgm:prSet/>
      <dgm:spPr/>
      <dgm:t>
        <a:bodyPr/>
        <a:lstStyle/>
        <a:p>
          <a:endParaRPr lang="en-US"/>
        </a:p>
      </dgm:t>
    </dgm:pt>
    <dgm:pt modelId="{81E68754-7E18-43E4-88EB-4AE0551FE8DF}" type="sibTrans" cxnId="{1EDD8E45-2DF8-4F98-B5E1-F22E15BD3B49}">
      <dgm:prSet/>
      <dgm:spPr/>
      <dgm:t>
        <a:bodyPr/>
        <a:lstStyle/>
        <a:p>
          <a:endParaRPr lang="en-US"/>
        </a:p>
      </dgm:t>
    </dgm:pt>
    <dgm:pt modelId="{5E221C51-7F86-48D4-8A5A-805F8578756C}">
      <dgm:prSet/>
      <dgm:spPr/>
      <dgm:t>
        <a:bodyPr/>
        <a:lstStyle/>
        <a:p>
          <a:r>
            <a:rPr lang="en-US"/>
            <a:t>Scrum Master</a:t>
          </a:r>
        </a:p>
      </dgm:t>
    </dgm:pt>
    <dgm:pt modelId="{02FBBF3B-D03E-4616-84BB-5F245751E239}" type="parTrans" cxnId="{14BCBBAE-E4B5-423B-8BF0-BC30415922D5}">
      <dgm:prSet/>
      <dgm:spPr/>
      <dgm:t>
        <a:bodyPr/>
        <a:lstStyle/>
        <a:p>
          <a:endParaRPr lang="en-US"/>
        </a:p>
      </dgm:t>
    </dgm:pt>
    <dgm:pt modelId="{CE9248E6-B455-40C0-889F-C985CF5EF0D0}" type="sibTrans" cxnId="{14BCBBAE-E4B5-423B-8BF0-BC30415922D5}">
      <dgm:prSet/>
      <dgm:spPr/>
      <dgm:t>
        <a:bodyPr/>
        <a:lstStyle/>
        <a:p>
          <a:endParaRPr lang="en-US"/>
        </a:p>
      </dgm:t>
    </dgm:pt>
    <dgm:pt modelId="{F05479C2-454D-4D58-89A1-405C7762316D}">
      <dgm:prSet/>
      <dgm:spPr/>
      <dgm:t>
        <a:bodyPr/>
        <a:lstStyle/>
        <a:p>
          <a:r>
            <a:rPr lang="en-US" dirty="0"/>
            <a:t>A servant type leader, meant to ensure the team understands and follows scrum practices(Scrum.org, 2025). A major part of their job is being the removal of impediments for the development team (</a:t>
          </a:r>
          <a:r>
            <a:rPr lang="en-US" dirty="0" err="1"/>
            <a:t>KnowledgeHut</a:t>
          </a:r>
          <a:r>
            <a:rPr lang="en-US" dirty="0"/>
            <a:t>, 2025)</a:t>
          </a:r>
        </a:p>
      </dgm:t>
    </dgm:pt>
    <dgm:pt modelId="{2C2BD337-BDF9-4506-A024-01CE1168D587}" type="parTrans" cxnId="{FC1EE729-27E6-4D1C-A4BE-D2468FAB21A2}">
      <dgm:prSet/>
      <dgm:spPr/>
      <dgm:t>
        <a:bodyPr/>
        <a:lstStyle/>
        <a:p>
          <a:endParaRPr lang="en-US"/>
        </a:p>
      </dgm:t>
    </dgm:pt>
    <dgm:pt modelId="{8AF2EEC1-786E-469F-8AF4-412DA388FD40}" type="sibTrans" cxnId="{FC1EE729-27E6-4D1C-A4BE-D2468FAB21A2}">
      <dgm:prSet/>
      <dgm:spPr/>
      <dgm:t>
        <a:bodyPr/>
        <a:lstStyle/>
        <a:p>
          <a:endParaRPr lang="en-US"/>
        </a:p>
      </dgm:t>
    </dgm:pt>
    <dgm:pt modelId="{4B6547A4-F32D-40A0-838B-6B9C472D09CF}" type="pres">
      <dgm:prSet presAssocID="{335CD3A9-67F5-4C5E-BF7B-4D545F4EAE59}" presName="Name0" presStyleCnt="0">
        <dgm:presLayoutVars>
          <dgm:dir/>
          <dgm:animLvl val="lvl"/>
          <dgm:resizeHandles val="exact"/>
        </dgm:presLayoutVars>
      </dgm:prSet>
      <dgm:spPr/>
    </dgm:pt>
    <dgm:pt modelId="{11178D86-4949-43E2-80C5-001F875B16FB}" type="pres">
      <dgm:prSet presAssocID="{025F3834-1816-4277-A257-97B4925E423F}" presName="linNode" presStyleCnt="0"/>
      <dgm:spPr/>
    </dgm:pt>
    <dgm:pt modelId="{5B287AB9-5C09-4763-9520-E0237F383F19}" type="pres">
      <dgm:prSet presAssocID="{025F3834-1816-4277-A257-97B4925E423F}" presName="parentText" presStyleLbl="node1" presStyleIdx="0" presStyleCnt="2">
        <dgm:presLayoutVars>
          <dgm:chMax val="1"/>
          <dgm:bulletEnabled val="1"/>
        </dgm:presLayoutVars>
      </dgm:prSet>
      <dgm:spPr/>
    </dgm:pt>
    <dgm:pt modelId="{59FFEA69-85F5-416A-AD55-1461AF78168D}" type="pres">
      <dgm:prSet presAssocID="{025F3834-1816-4277-A257-97B4925E423F}" presName="descendantText" presStyleLbl="alignAccFollowNode1" presStyleIdx="0" presStyleCnt="2">
        <dgm:presLayoutVars>
          <dgm:bulletEnabled val="1"/>
        </dgm:presLayoutVars>
      </dgm:prSet>
      <dgm:spPr/>
    </dgm:pt>
    <dgm:pt modelId="{D25D87F6-E161-4D15-8BD7-493BA7E4DC12}" type="pres">
      <dgm:prSet presAssocID="{37B99D79-23A8-46DB-8C45-B603F591E04C}" presName="sp" presStyleCnt="0"/>
      <dgm:spPr/>
    </dgm:pt>
    <dgm:pt modelId="{59C7ED9C-1AED-48D8-ADC2-36566A7689E4}" type="pres">
      <dgm:prSet presAssocID="{5E221C51-7F86-48D4-8A5A-805F8578756C}" presName="linNode" presStyleCnt="0"/>
      <dgm:spPr/>
    </dgm:pt>
    <dgm:pt modelId="{4AB56E2B-E3FE-41C3-8F28-858998BC6BB6}" type="pres">
      <dgm:prSet presAssocID="{5E221C51-7F86-48D4-8A5A-805F8578756C}" presName="parentText" presStyleLbl="node1" presStyleIdx="1" presStyleCnt="2">
        <dgm:presLayoutVars>
          <dgm:chMax val="1"/>
          <dgm:bulletEnabled val="1"/>
        </dgm:presLayoutVars>
      </dgm:prSet>
      <dgm:spPr/>
    </dgm:pt>
    <dgm:pt modelId="{BC6C54DC-BD8C-4726-98D7-6670CE52BCCF}" type="pres">
      <dgm:prSet presAssocID="{5E221C51-7F86-48D4-8A5A-805F8578756C}" presName="descendantText" presStyleLbl="alignAccFollowNode1" presStyleIdx="1" presStyleCnt="2">
        <dgm:presLayoutVars>
          <dgm:bulletEnabled val="1"/>
        </dgm:presLayoutVars>
      </dgm:prSet>
      <dgm:spPr/>
    </dgm:pt>
  </dgm:ptLst>
  <dgm:cxnLst>
    <dgm:cxn modelId="{F4443613-C0D6-443E-A860-CA2D9A446CD4}" type="presOf" srcId="{39543783-C2D3-40E8-A68E-4F88EEC26612}" destId="{59FFEA69-85F5-416A-AD55-1461AF78168D}" srcOrd="0" destOrd="0" presId="urn:microsoft.com/office/officeart/2005/8/layout/vList5"/>
    <dgm:cxn modelId="{FC1EE729-27E6-4D1C-A4BE-D2468FAB21A2}" srcId="{5E221C51-7F86-48D4-8A5A-805F8578756C}" destId="{F05479C2-454D-4D58-89A1-405C7762316D}" srcOrd="0" destOrd="0" parTransId="{2C2BD337-BDF9-4506-A024-01CE1168D587}" sibTransId="{8AF2EEC1-786E-469F-8AF4-412DA388FD40}"/>
    <dgm:cxn modelId="{3E849C37-1AE6-40DE-B92A-454AD4F72506}" type="presOf" srcId="{025F3834-1816-4277-A257-97B4925E423F}" destId="{5B287AB9-5C09-4763-9520-E0237F383F19}" srcOrd="0" destOrd="0" presId="urn:microsoft.com/office/officeart/2005/8/layout/vList5"/>
    <dgm:cxn modelId="{1EDD8E45-2DF8-4F98-B5E1-F22E15BD3B49}" srcId="{025F3834-1816-4277-A257-97B4925E423F}" destId="{39543783-C2D3-40E8-A68E-4F88EEC26612}" srcOrd="0" destOrd="0" parTransId="{42E77B10-35F8-4B56-BA70-35CA81F95188}" sibTransId="{81E68754-7E18-43E4-88EB-4AE0551FE8DF}"/>
    <dgm:cxn modelId="{E8FC4366-6A98-4BB4-953F-51122AFD35C1}" type="presOf" srcId="{335CD3A9-67F5-4C5E-BF7B-4D545F4EAE59}" destId="{4B6547A4-F32D-40A0-838B-6B9C472D09CF}" srcOrd="0" destOrd="0" presId="urn:microsoft.com/office/officeart/2005/8/layout/vList5"/>
    <dgm:cxn modelId="{E7C07BA5-1195-439F-8948-7234A7120864}" type="presOf" srcId="{5E221C51-7F86-48D4-8A5A-805F8578756C}" destId="{4AB56E2B-E3FE-41C3-8F28-858998BC6BB6}" srcOrd="0" destOrd="0" presId="urn:microsoft.com/office/officeart/2005/8/layout/vList5"/>
    <dgm:cxn modelId="{14BCBBAE-E4B5-423B-8BF0-BC30415922D5}" srcId="{335CD3A9-67F5-4C5E-BF7B-4D545F4EAE59}" destId="{5E221C51-7F86-48D4-8A5A-805F8578756C}" srcOrd="1" destOrd="0" parTransId="{02FBBF3B-D03E-4616-84BB-5F245751E239}" sibTransId="{CE9248E6-B455-40C0-889F-C985CF5EF0D0}"/>
    <dgm:cxn modelId="{A8F9F4B7-2614-4121-89B9-D76FD2754071}" type="presOf" srcId="{F05479C2-454D-4D58-89A1-405C7762316D}" destId="{BC6C54DC-BD8C-4726-98D7-6670CE52BCCF}" srcOrd="0" destOrd="0" presId="urn:microsoft.com/office/officeart/2005/8/layout/vList5"/>
    <dgm:cxn modelId="{8ED065C0-3736-48A2-9B96-13C1035D0B99}" srcId="{335CD3A9-67F5-4C5E-BF7B-4D545F4EAE59}" destId="{025F3834-1816-4277-A257-97B4925E423F}" srcOrd="0" destOrd="0" parTransId="{42AE39E5-9092-4DA6-A3C4-0719383C5384}" sibTransId="{37B99D79-23A8-46DB-8C45-B603F591E04C}"/>
    <dgm:cxn modelId="{7BB5440C-8B75-4B09-AFE9-06C5FF50A4D1}" type="presParOf" srcId="{4B6547A4-F32D-40A0-838B-6B9C472D09CF}" destId="{11178D86-4949-43E2-80C5-001F875B16FB}" srcOrd="0" destOrd="0" presId="urn:microsoft.com/office/officeart/2005/8/layout/vList5"/>
    <dgm:cxn modelId="{A9834E0E-5AAC-4833-9F38-A1AE5D2F43BB}" type="presParOf" srcId="{11178D86-4949-43E2-80C5-001F875B16FB}" destId="{5B287AB9-5C09-4763-9520-E0237F383F19}" srcOrd="0" destOrd="0" presId="urn:microsoft.com/office/officeart/2005/8/layout/vList5"/>
    <dgm:cxn modelId="{AC6C5F7A-593C-4676-A7BC-CF32BF514ED8}" type="presParOf" srcId="{11178D86-4949-43E2-80C5-001F875B16FB}" destId="{59FFEA69-85F5-416A-AD55-1461AF78168D}" srcOrd="1" destOrd="0" presId="urn:microsoft.com/office/officeart/2005/8/layout/vList5"/>
    <dgm:cxn modelId="{CC114F39-5DFB-4D99-94AE-670261AFF6C7}" type="presParOf" srcId="{4B6547A4-F32D-40A0-838B-6B9C472D09CF}" destId="{D25D87F6-E161-4D15-8BD7-493BA7E4DC12}" srcOrd="1" destOrd="0" presId="urn:microsoft.com/office/officeart/2005/8/layout/vList5"/>
    <dgm:cxn modelId="{DDAE6029-70DE-4CA7-93F3-39E2979DA888}" type="presParOf" srcId="{4B6547A4-F32D-40A0-838B-6B9C472D09CF}" destId="{59C7ED9C-1AED-48D8-ADC2-36566A7689E4}" srcOrd="2" destOrd="0" presId="urn:microsoft.com/office/officeart/2005/8/layout/vList5"/>
    <dgm:cxn modelId="{47B41031-0F35-4A91-BC8A-77E47ECD789A}" type="presParOf" srcId="{59C7ED9C-1AED-48D8-ADC2-36566A7689E4}" destId="{4AB56E2B-E3FE-41C3-8F28-858998BC6BB6}" srcOrd="0" destOrd="0" presId="urn:microsoft.com/office/officeart/2005/8/layout/vList5"/>
    <dgm:cxn modelId="{03707B13-BDB2-43EE-A640-18B7D60AABD2}" type="presParOf" srcId="{59C7ED9C-1AED-48D8-ADC2-36566A7689E4}" destId="{BC6C54DC-BD8C-4726-98D7-6670CE52BCCF}"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35CD3A9-67F5-4C5E-BF7B-4D545F4EAE59}"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025F3834-1816-4277-A257-97B4925E423F}">
      <dgm:prSet/>
      <dgm:spPr/>
      <dgm:t>
        <a:bodyPr/>
        <a:lstStyle/>
        <a:p>
          <a:r>
            <a:rPr lang="en-US" dirty="0"/>
            <a:t>Development Team</a:t>
          </a:r>
        </a:p>
      </dgm:t>
    </dgm:pt>
    <dgm:pt modelId="{42AE39E5-9092-4DA6-A3C4-0719383C5384}" type="parTrans" cxnId="{8ED065C0-3736-48A2-9B96-13C1035D0B99}">
      <dgm:prSet/>
      <dgm:spPr/>
      <dgm:t>
        <a:bodyPr/>
        <a:lstStyle/>
        <a:p>
          <a:endParaRPr lang="en-US"/>
        </a:p>
      </dgm:t>
    </dgm:pt>
    <dgm:pt modelId="{37B99D79-23A8-46DB-8C45-B603F591E04C}" type="sibTrans" cxnId="{8ED065C0-3736-48A2-9B96-13C1035D0B99}">
      <dgm:prSet/>
      <dgm:spPr/>
      <dgm:t>
        <a:bodyPr/>
        <a:lstStyle/>
        <a:p>
          <a:endParaRPr lang="en-US"/>
        </a:p>
      </dgm:t>
    </dgm:pt>
    <dgm:pt modelId="{39543783-C2D3-40E8-A68E-4F88EEC26612}">
      <dgm:prSet/>
      <dgm:spPr/>
      <dgm:t>
        <a:bodyPr/>
        <a:lstStyle/>
        <a:p>
          <a:r>
            <a:rPr lang="en-US" dirty="0"/>
            <a:t>This consists of two groups, testers and developers (</a:t>
          </a:r>
          <a:r>
            <a:rPr lang="en-US" dirty="0" err="1"/>
            <a:t>TeamForm</a:t>
          </a:r>
          <a:r>
            <a:rPr lang="en-US" dirty="0"/>
            <a:t>, 2025).</a:t>
          </a:r>
        </a:p>
      </dgm:t>
    </dgm:pt>
    <dgm:pt modelId="{42E77B10-35F8-4B56-BA70-35CA81F95188}" type="parTrans" cxnId="{1EDD8E45-2DF8-4F98-B5E1-F22E15BD3B49}">
      <dgm:prSet/>
      <dgm:spPr/>
      <dgm:t>
        <a:bodyPr/>
        <a:lstStyle/>
        <a:p>
          <a:endParaRPr lang="en-US"/>
        </a:p>
      </dgm:t>
    </dgm:pt>
    <dgm:pt modelId="{81E68754-7E18-43E4-88EB-4AE0551FE8DF}" type="sibTrans" cxnId="{1EDD8E45-2DF8-4F98-B5E1-F22E15BD3B49}">
      <dgm:prSet/>
      <dgm:spPr/>
      <dgm:t>
        <a:bodyPr/>
        <a:lstStyle/>
        <a:p>
          <a:endParaRPr lang="en-US"/>
        </a:p>
      </dgm:t>
    </dgm:pt>
    <dgm:pt modelId="{1621EC5E-FFDD-42D0-BAEF-1DED3D2AE4FA}">
      <dgm:prSet/>
      <dgm:spPr/>
      <dgm:t>
        <a:bodyPr/>
        <a:lstStyle/>
        <a:p>
          <a:r>
            <a:rPr lang="en-US" dirty="0"/>
            <a:t>They should be self-managing, and cross-functioning to create the working product every sprint (</a:t>
          </a:r>
          <a:r>
            <a:rPr lang="en-US" dirty="0" err="1"/>
            <a:t>TeamForm</a:t>
          </a:r>
          <a:r>
            <a:rPr lang="en-US" dirty="0"/>
            <a:t>, 2025).</a:t>
          </a:r>
        </a:p>
      </dgm:t>
    </dgm:pt>
    <dgm:pt modelId="{5BE697C1-9276-4340-A689-073DAE273C44}" type="parTrans" cxnId="{AA3F3C1C-D154-4872-8EA3-18F39F9F81C2}">
      <dgm:prSet/>
      <dgm:spPr/>
      <dgm:t>
        <a:bodyPr/>
        <a:lstStyle/>
        <a:p>
          <a:endParaRPr lang="en-US"/>
        </a:p>
      </dgm:t>
    </dgm:pt>
    <dgm:pt modelId="{E2701C0B-AAEE-477E-AB59-084B195BD31F}" type="sibTrans" cxnId="{AA3F3C1C-D154-4872-8EA3-18F39F9F81C2}">
      <dgm:prSet/>
      <dgm:spPr/>
      <dgm:t>
        <a:bodyPr/>
        <a:lstStyle/>
        <a:p>
          <a:endParaRPr lang="en-US"/>
        </a:p>
      </dgm:t>
    </dgm:pt>
    <dgm:pt modelId="{8141E27A-A523-43C3-9974-C358C01EA00D}">
      <dgm:prSet/>
      <dgm:spPr/>
      <dgm:t>
        <a:bodyPr/>
        <a:lstStyle/>
        <a:p>
          <a:r>
            <a:rPr lang="en-US" dirty="0"/>
            <a:t>Testers test what the developer make, and developers improve based on the testers references in an endless cycle (Cobb, 2023).</a:t>
          </a:r>
        </a:p>
      </dgm:t>
    </dgm:pt>
    <dgm:pt modelId="{E72C831B-FF75-4E48-8F05-D9EB5BF06551}" type="parTrans" cxnId="{E85190D4-7DAC-4C27-9132-07A4A9EF71C7}">
      <dgm:prSet/>
      <dgm:spPr/>
      <dgm:t>
        <a:bodyPr/>
        <a:lstStyle/>
        <a:p>
          <a:endParaRPr lang="en-US"/>
        </a:p>
      </dgm:t>
    </dgm:pt>
    <dgm:pt modelId="{BBA37DAF-562C-4152-8B1A-C79667C7C195}" type="sibTrans" cxnId="{E85190D4-7DAC-4C27-9132-07A4A9EF71C7}">
      <dgm:prSet/>
      <dgm:spPr/>
      <dgm:t>
        <a:bodyPr/>
        <a:lstStyle/>
        <a:p>
          <a:endParaRPr lang="en-US"/>
        </a:p>
      </dgm:t>
    </dgm:pt>
    <dgm:pt modelId="{4B6547A4-F32D-40A0-838B-6B9C472D09CF}" type="pres">
      <dgm:prSet presAssocID="{335CD3A9-67F5-4C5E-BF7B-4D545F4EAE59}" presName="Name0" presStyleCnt="0">
        <dgm:presLayoutVars>
          <dgm:dir/>
          <dgm:animLvl val="lvl"/>
          <dgm:resizeHandles val="exact"/>
        </dgm:presLayoutVars>
      </dgm:prSet>
      <dgm:spPr/>
    </dgm:pt>
    <dgm:pt modelId="{11178D86-4949-43E2-80C5-001F875B16FB}" type="pres">
      <dgm:prSet presAssocID="{025F3834-1816-4277-A257-97B4925E423F}" presName="linNode" presStyleCnt="0"/>
      <dgm:spPr/>
    </dgm:pt>
    <dgm:pt modelId="{5B287AB9-5C09-4763-9520-E0237F383F19}" type="pres">
      <dgm:prSet presAssocID="{025F3834-1816-4277-A257-97B4925E423F}" presName="parentText" presStyleLbl="node1" presStyleIdx="0" presStyleCnt="1">
        <dgm:presLayoutVars>
          <dgm:chMax val="1"/>
          <dgm:bulletEnabled val="1"/>
        </dgm:presLayoutVars>
      </dgm:prSet>
      <dgm:spPr/>
    </dgm:pt>
    <dgm:pt modelId="{59FFEA69-85F5-416A-AD55-1461AF78168D}" type="pres">
      <dgm:prSet presAssocID="{025F3834-1816-4277-A257-97B4925E423F}" presName="descendantText" presStyleLbl="alignAccFollowNode1" presStyleIdx="0" presStyleCnt="1">
        <dgm:presLayoutVars>
          <dgm:bulletEnabled val="1"/>
        </dgm:presLayoutVars>
      </dgm:prSet>
      <dgm:spPr/>
    </dgm:pt>
  </dgm:ptLst>
  <dgm:cxnLst>
    <dgm:cxn modelId="{F4443613-C0D6-443E-A860-CA2D9A446CD4}" type="presOf" srcId="{39543783-C2D3-40E8-A68E-4F88EEC26612}" destId="{59FFEA69-85F5-416A-AD55-1461AF78168D}" srcOrd="0" destOrd="0" presId="urn:microsoft.com/office/officeart/2005/8/layout/vList5"/>
    <dgm:cxn modelId="{AA3F3C1C-D154-4872-8EA3-18F39F9F81C2}" srcId="{025F3834-1816-4277-A257-97B4925E423F}" destId="{1621EC5E-FFDD-42D0-BAEF-1DED3D2AE4FA}" srcOrd="1" destOrd="0" parTransId="{5BE697C1-9276-4340-A689-073DAE273C44}" sibTransId="{E2701C0B-AAEE-477E-AB59-084B195BD31F}"/>
    <dgm:cxn modelId="{3E849C37-1AE6-40DE-B92A-454AD4F72506}" type="presOf" srcId="{025F3834-1816-4277-A257-97B4925E423F}" destId="{5B287AB9-5C09-4763-9520-E0237F383F19}" srcOrd="0" destOrd="0" presId="urn:microsoft.com/office/officeart/2005/8/layout/vList5"/>
    <dgm:cxn modelId="{1EDD8E45-2DF8-4F98-B5E1-F22E15BD3B49}" srcId="{025F3834-1816-4277-A257-97B4925E423F}" destId="{39543783-C2D3-40E8-A68E-4F88EEC26612}" srcOrd="0" destOrd="0" parTransId="{42E77B10-35F8-4B56-BA70-35CA81F95188}" sibTransId="{81E68754-7E18-43E4-88EB-4AE0551FE8DF}"/>
    <dgm:cxn modelId="{E8FC4366-6A98-4BB4-953F-51122AFD35C1}" type="presOf" srcId="{335CD3A9-67F5-4C5E-BF7B-4D545F4EAE59}" destId="{4B6547A4-F32D-40A0-838B-6B9C472D09CF}" srcOrd="0" destOrd="0" presId="urn:microsoft.com/office/officeart/2005/8/layout/vList5"/>
    <dgm:cxn modelId="{8F10637F-3D85-4322-9FE7-9BC293FEC479}" type="presOf" srcId="{8141E27A-A523-43C3-9974-C358C01EA00D}" destId="{59FFEA69-85F5-416A-AD55-1461AF78168D}" srcOrd="0" destOrd="2" presId="urn:microsoft.com/office/officeart/2005/8/layout/vList5"/>
    <dgm:cxn modelId="{8ED065C0-3736-48A2-9B96-13C1035D0B99}" srcId="{335CD3A9-67F5-4C5E-BF7B-4D545F4EAE59}" destId="{025F3834-1816-4277-A257-97B4925E423F}" srcOrd="0" destOrd="0" parTransId="{42AE39E5-9092-4DA6-A3C4-0719383C5384}" sibTransId="{37B99D79-23A8-46DB-8C45-B603F591E04C}"/>
    <dgm:cxn modelId="{B7458AC6-3B22-453F-8E2D-97D0C6349F09}" type="presOf" srcId="{1621EC5E-FFDD-42D0-BAEF-1DED3D2AE4FA}" destId="{59FFEA69-85F5-416A-AD55-1461AF78168D}" srcOrd="0" destOrd="1" presId="urn:microsoft.com/office/officeart/2005/8/layout/vList5"/>
    <dgm:cxn modelId="{E85190D4-7DAC-4C27-9132-07A4A9EF71C7}" srcId="{025F3834-1816-4277-A257-97B4925E423F}" destId="{8141E27A-A523-43C3-9974-C358C01EA00D}" srcOrd="2" destOrd="0" parTransId="{E72C831B-FF75-4E48-8F05-D9EB5BF06551}" sibTransId="{BBA37DAF-562C-4152-8B1A-C79667C7C195}"/>
    <dgm:cxn modelId="{7BB5440C-8B75-4B09-AFE9-06C5FF50A4D1}" type="presParOf" srcId="{4B6547A4-F32D-40A0-838B-6B9C472D09CF}" destId="{11178D86-4949-43E2-80C5-001F875B16FB}" srcOrd="0" destOrd="0" presId="urn:microsoft.com/office/officeart/2005/8/layout/vList5"/>
    <dgm:cxn modelId="{A9834E0E-5AAC-4833-9F38-A1AE5D2F43BB}" type="presParOf" srcId="{11178D86-4949-43E2-80C5-001F875B16FB}" destId="{5B287AB9-5C09-4763-9520-E0237F383F19}" srcOrd="0" destOrd="0" presId="urn:microsoft.com/office/officeart/2005/8/layout/vList5"/>
    <dgm:cxn modelId="{AC6C5F7A-593C-4676-A7BC-CF32BF514ED8}" type="presParOf" srcId="{11178D86-4949-43E2-80C5-001F875B16FB}" destId="{59FFEA69-85F5-416A-AD55-1461AF78168D}"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2B708FB-2BC8-4978-9AFD-BF3FE271ECB7}"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DE0C0634-E9FB-4A33-A590-F4622706D157}">
      <dgm:prSet/>
      <dgm:spPr/>
      <dgm:t>
        <a:bodyPr/>
        <a:lstStyle/>
        <a:p>
          <a:r>
            <a:rPr lang="en-US"/>
            <a:t>Asana. (2025). What is a product owner? Secret to Scrum 	success. [Blog post]. Retrieved from 	</a:t>
          </a:r>
          <a:r>
            <a:rPr lang="en-US">
              <a:hlinkClick xmlns:r="http://schemas.openxmlformats.org/officeDocument/2006/relationships" r:id="rId1"/>
            </a:rPr>
            <a:t>https://asana.com/resources/product-owner</a:t>
          </a:r>
          <a:endParaRPr lang="en-US"/>
        </a:p>
      </dgm:t>
    </dgm:pt>
    <dgm:pt modelId="{BF5CCDC9-DC75-49E5-8A61-BF684FE44641}" type="parTrans" cxnId="{B7076C2B-80EA-48A6-8C75-53CAA64DDC5C}">
      <dgm:prSet/>
      <dgm:spPr/>
      <dgm:t>
        <a:bodyPr/>
        <a:lstStyle/>
        <a:p>
          <a:endParaRPr lang="en-US"/>
        </a:p>
      </dgm:t>
    </dgm:pt>
    <dgm:pt modelId="{C498C543-D81C-4E4F-A256-69A5594C095D}" type="sibTrans" cxnId="{B7076C2B-80EA-48A6-8C75-53CAA64DDC5C}">
      <dgm:prSet/>
      <dgm:spPr/>
      <dgm:t>
        <a:bodyPr/>
        <a:lstStyle/>
        <a:p>
          <a:endParaRPr lang="en-US"/>
        </a:p>
      </dgm:t>
    </dgm:pt>
    <dgm:pt modelId="{0FC923A2-A593-4284-B5E2-D53742E7B8FF}">
      <dgm:prSet/>
      <dgm:spPr/>
      <dgm:t>
        <a:bodyPr/>
        <a:lstStyle/>
        <a:p>
          <a:r>
            <a:rPr lang="en-US"/>
            <a:t>Cobb, C. G. (2023). The project manager's guide to mastering 	agile: Principles and practices for an adaptive approach (2nd 	ed.). Wiley.</a:t>
          </a:r>
        </a:p>
      </dgm:t>
    </dgm:pt>
    <dgm:pt modelId="{C9537818-B19C-40E0-889C-3913C2CE49DC}" type="parTrans" cxnId="{07F9E908-3411-4472-A9CD-C235B568F8DD}">
      <dgm:prSet/>
      <dgm:spPr/>
      <dgm:t>
        <a:bodyPr/>
        <a:lstStyle/>
        <a:p>
          <a:endParaRPr lang="en-US"/>
        </a:p>
      </dgm:t>
    </dgm:pt>
    <dgm:pt modelId="{CE9E8BF1-AC83-474B-BFD7-1953A0DEBE18}" type="sibTrans" cxnId="{07F9E908-3411-4472-A9CD-C235B568F8DD}">
      <dgm:prSet/>
      <dgm:spPr/>
      <dgm:t>
        <a:bodyPr/>
        <a:lstStyle/>
        <a:p>
          <a:endParaRPr lang="en-US"/>
        </a:p>
      </dgm:t>
    </dgm:pt>
    <dgm:pt modelId="{95D2D18E-2415-4321-A3E7-BF09DEC32AC0}">
      <dgm:prSet/>
      <dgm:spPr/>
      <dgm:t>
        <a:bodyPr/>
        <a:lstStyle/>
        <a:p>
          <a:r>
            <a:rPr lang="en-US" dirty="0" err="1"/>
            <a:t>KnowledgeHut</a:t>
          </a:r>
          <a:r>
            <a:rPr lang="en-US" dirty="0"/>
            <a:t>. (2025). Scrum Master – the Scrum team's servant-	leader! [Blog post]. Retrieved from 	</a:t>
          </a:r>
          <a:r>
            <a:rPr lang="en-US" dirty="0">
              <a:hlinkClick xmlns:r="http://schemas.openxmlformats.org/officeDocument/2006/relationships" r:id="rId2"/>
            </a:rPr>
            <a:t>https://www.knowledgehut.com/blog/agile/scrum-master-as-</a:t>
          </a:r>
          <a:r>
            <a:rPr lang="en-US" dirty="0"/>
            <a:t>team-servant-leader</a:t>
          </a:r>
        </a:p>
      </dgm:t>
    </dgm:pt>
    <dgm:pt modelId="{2385F9E4-9F59-4A89-AC1B-F936E1CADDC4}" type="parTrans" cxnId="{3FA6EDC8-73D1-413A-A5D9-1D44B16EEC6E}">
      <dgm:prSet/>
      <dgm:spPr/>
      <dgm:t>
        <a:bodyPr/>
        <a:lstStyle/>
        <a:p>
          <a:endParaRPr lang="en-US"/>
        </a:p>
      </dgm:t>
    </dgm:pt>
    <dgm:pt modelId="{971E9630-9A11-443C-BBF0-CDC494EBB35B}" type="sibTrans" cxnId="{3FA6EDC8-73D1-413A-A5D9-1D44B16EEC6E}">
      <dgm:prSet/>
      <dgm:spPr/>
      <dgm:t>
        <a:bodyPr/>
        <a:lstStyle/>
        <a:p>
          <a:endParaRPr lang="en-US"/>
        </a:p>
      </dgm:t>
    </dgm:pt>
    <dgm:pt modelId="{34C0DF6C-D591-421F-9D8B-2B9E1B8A7F2C}">
      <dgm:prSet/>
      <dgm:spPr/>
      <dgm:t>
        <a:bodyPr/>
        <a:lstStyle/>
        <a:p>
          <a:r>
            <a:rPr lang="en-US"/>
            <a:t>Scrum.org. (2025). The Scrum Master as an impediment remover. [Blog post]. Retrieved from https://www.scrum.org/resources/blog/scrum-master-impediment-remover</a:t>
          </a:r>
        </a:p>
      </dgm:t>
    </dgm:pt>
    <dgm:pt modelId="{311CC6F8-31F8-4220-974D-F35AD9412812}" type="parTrans" cxnId="{BBFFEBA5-D500-48E6-AD95-142BBBFA65FF}">
      <dgm:prSet/>
      <dgm:spPr/>
      <dgm:t>
        <a:bodyPr/>
        <a:lstStyle/>
        <a:p>
          <a:endParaRPr lang="en-US"/>
        </a:p>
      </dgm:t>
    </dgm:pt>
    <dgm:pt modelId="{FFD6C28C-3F16-40DA-9687-2538B99DAB15}" type="sibTrans" cxnId="{BBFFEBA5-D500-48E6-AD95-142BBBFA65FF}">
      <dgm:prSet/>
      <dgm:spPr/>
      <dgm:t>
        <a:bodyPr/>
        <a:lstStyle/>
        <a:p>
          <a:endParaRPr lang="en-US"/>
        </a:p>
      </dgm:t>
    </dgm:pt>
    <dgm:pt modelId="{9A4D4260-A0C8-4EE2-B2C8-F988586036FA}">
      <dgm:prSet/>
      <dgm:spPr/>
      <dgm:t>
        <a:bodyPr/>
        <a:lstStyle/>
        <a:p>
          <a:r>
            <a:rPr lang="en-US"/>
            <a:t>TeamForm. (2025). Cross-functional teams in 2025. [Guide]. Retrieved from https://www.teamform.co/guides/cross-functional-teams-in-2025</a:t>
          </a:r>
        </a:p>
      </dgm:t>
    </dgm:pt>
    <dgm:pt modelId="{15F26ED0-E2EB-4134-A808-7446C00AB75E}" type="parTrans" cxnId="{CC14B53B-4BA8-46C8-A273-D25B38E8C123}">
      <dgm:prSet/>
      <dgm:spPr/>
      <dgm:t>
        <a:bodyPr/>
        <a:lstStyle/>
        <a:p>
          <a:endParaRPr lang="en-US"/>
        </a:p>
      </dgm:t>
    </dgm:pt>
    <dgm:pt modelId="{028CD37A-1060-4306-9471-0202B289CD20}" type="sibTrans" cxnId="{CC14B53B-4BA8-46C8-A273-D25B38E8C123}">
      <dgm:prSet/>
      <dgm:spPr/>
      <dgm:t>
        <a:bodyPr/>
        <a:lstStyle/>
        <a:p>
          <a:endParaRPr lang="en-US"/>
        </a:p>
      </dgm:t>
    </dgm:pt>
    <dgm:pt modelId="{3DC86482-4FC4-4BC6-AAB1-32FB3F75573F}" type="pres">
      <dgm:prSet presAssocID="{82B708FB-2BC8-4978-9AFD-BF3FE271ECB7}" presName="hierChild1" presStyleCnt="0">
        <dgm:presLayoutVars>
          <dgm:chPref val="1"/>
          <dgm:dir/>
          <dgm:animOne val="branch"/>
          <dgm:animLvl val="lvl"/>
          <dgm:resizeHandles/>
        </dgm:presLayoutVars>
      </dgm:prSet>
      <dgm:spPr/>
    </dgm:pt>
    <dgm:pt modelId="{A68EE3DB-38BF-4E56-B003-97B82C5C6607}" type="pres">
      <dgm:prSet presAssocID="{DE0C0634-E9FB-4A33-A590-F4622706D157}" presName="hierRoot1" presStyleCnt="0"/>
      <dgm:spPr/>
    </dgm:pt>
    <dgm:pt modelId="{FF63BB6C-811F-4A9E-AD76-B992979CC914}" type="pres">
      <dgm:prSet presAssocID="{DE0C0634-E9FB-4A33-A590-F4622706D157}" presName="composite" presStyleCnt="0"/>
      <dgm:spPr/>
    </dgm:pt>
    <dgm:pt modelId="{D2A2083D-8918-449B-83FC-7C4E6D3C00FB}" type="pres">
      <dgm:prSet presAssocID="{DE0C0634-E9FB-4A33-A590-F4622706D157}" presName="background" presStyleLbl="node0" presStyleIdx="0" presStyleCnt="5"/>
      <dgm:spPr/>
    </dgm:pt>
    <dgm:pt modelId="{14D23D07-29DC-41EC-B575-AC70453B1A42}" type="pres">
      <dgm:prSet presAssocID="{DE0C0634-E9FB-4A33-A590-F4622706D157}" presName="text" presStyleLbl="fgAcc0" presStyleIdx="0" presStyleCnt="5">
        <dgm:presLayoutVars>
          <dgm:chPref val="3"/>
        </dgm:presLayoutVars>
      </dgm:prSet>
      <dgm:spPr/>
    </dgm:pt>
    <dgm:pt modelId="{00D1381F-FC43-45CF-8F03-34ED143D77BC}" type="pres">
      <dgm:prSet presAssocID="{DE0C0634-E9FB-4A33-A590-F4622706D157}" presName="hierChild2" presStyleCnt="0"/>
      <dgm:spPr/>
    </dgm:pt>
    <dgm:pt modelId="{9FB1907C-8365-4A45-8E09-EDB1A90D0927}" type="pres">
      <dgm:prSet presAssocID="{0FC923A2-A593-4284-B5E2-D53742E7B8FF}" presName="hierRoot1" presStyleCnt="0"/>
      <dgm:spPr/>
    </dgm:pt>
    <dgm:pt modelId="{312BEB13-7127-41AD-A421-2781B9C4E738}" type="pres">
      <dgm:prSet presAssocID="{0FC923A2-A593-4284-B5E2-D53742E7B8FF}" presName="composite" presStyleCnt="0"/>
      <dgm:spPr/>
    </dgm:pt>
    <dgm:pt modelId="{97EDAE78-437A-4984-AF6B-4328F15896DE}" type="pres">
      <dgm:prSet presAssocID="{0FC923A2-A593-4284-B5E2-D53742E7B8FF}" presName="background" presStyleLbl="node0" presStyleIdx="1" presStyleCnt="5"/>
      <dgm:spPr/>
    </dgm:pt>
    <dgm:pt modelId="{1834B027-5BB5-450E-8DEB-AC6AC75363C3}" type="pres">
      <dgm:prSet presAssocID="{0FC923A2-A593-4284-B5E2-D53742E7B8FF}" presName="text" presStyleLbl="fgAcc0" presStyleIdx="1" presStyleCnt="5">
        <dgm:presLayoutVars>
          <dgm:chPref val="3"/>
        </dgm:presLayoutVars>
      </dgm:prSet>
      <dgm:spPr/>
    </dgm:pt>
    <dgm:pt modelId="{FCC07162-B0D4-4D9B-859B-B3FC7FF7AAB1}" type="pres">
      <dgm:prSet presAssocID="{0FC923A2-A593-4284-B5E2-D53742E7B8FF}" presName="hierChild2" presStyleCnt="0"/>
      <dgm:spPr/>
    </dgm:pt>
    <dgm:pt modelId="{D597D20A-17AB-49D3-A8C0-43AD04FCE914}" type="pres">
      <dgm:prSet presAssocID="{95D2D18E-2415-4321-A3E7-BF09DEC32AC0}" presName="hierRoot1" presStyleCnt="0"/>
      <dgm:spPr/>
    </dgm:pt>
    <dgm:pt modelId="{F7E311B9-0B4F-4F9B-BE75-508BA4FBDA67}" type="pres">
      <dgm:prSet presAssocID="{95D2D18E-2415-4321-A3E7-BF09DEC32AC0}" presName="composite" presStyleCnt="0"/>
      <dgm:spPr/>
    </dgm:pt>
    <dgm:pt modelId="{A6861853-8FD7-4724-9AA1-5AC4AB1FC264}" type="pres">
      <dgm:prSet presAssocID="{95D2D18E-2415-4321-A3E7-BF09DEC32AC0}" presName="background" presStyleLbl="node0" presStyleIdx="2" presStyleCnt="5"/>
      <dgm:spPr/>
    </dgm:pt>
    <dgm:pt modelId="{5326220C-40DD-43B7-8506-1DA00477288E}" type="pres">
      <dgm:prSet presAssocID="{95D2D18E-2415-4321-A3E7-BF09DEC32AC0}" presName="text" presStyleLbl="fgAcc0" presStyleIdx="2" presStyleCnt="5">
        <dgm:presLayoutVars>
          <dgm:chPref val="3"/>
        </dgm:presLayoutVars>
      </dgm:prSet>
      <dgm:spPr/>
    </dgm:pt>
    <dgm:pt modelId="{B227C378-456D-4965-BA57-DDA63C8B3588}" type="pres">
      <dgm:prSet presAssocID="{95D2D18E-2415-4321-A3E7-BF09DEC32AC0}" presName="hierChild2" presStyleCnt="0"/>
      <dgm:spPr/>
    </dgm:pt>
    <dgm:pt modelId="{E330C0D4-6B0A-4EAF-A55A-174803EA265E}" type="pres">
      <dgm:prSet presAssocID="{34C0DF6C-D591-421F-9D8B-2B9E1B8A7F2C}" presName="hierRoot1" presStyleCnt="0"/>
      <dgm:spPr/>
    </dgm:pt>
    <dgm:pt modelId="{4E3FEF7C-D010-436A-AD69-7138A0E03C1E}" type="pres">
      <dgm:prSet presAssocID="{34C0DF6C-D591-421F-9D8B-2B9E1B8A7F2C}" presName="composite" presStyleCnt="0"/>
      <dgm:spPr/>
    </dgm:pt>
    <dgm:pt modelId="{75E03448-4EFC-4A7B-94B5-D5F704DFE82F}" type="pres">
      <dgm:prSet presAssocID="{34C0DF6C-D591-421F-9D8B-2B9E1B8A7F2C}" presName="background" presStyleLbl="node0" presStyleIdx="3" presStyleCnt="5"/>
      <dgm:spPr/>
    </dgm:pt>
    <dgm:pt modelId="{5F42AA9C-5264-453D-82CA-E4F7CAAE99D7}" type="pres">
      <dgm:prSet presAssocID="{34C0DF6C-D591-421F-9D8B-2B9E1B8A7F2C}" presName="text" presStyleLbl="fgAcc0" presStyleIdx="3" presStyleCnt="5">
        <dgm:presLayoutVars>
          <dgm:chPref val="3"/>
        </dgm:presLayoutVars>
      </dgm:prSet>
      <dgm:spPr/>
    </dgm:pt>
    <dgm:pt modelId="{8DBFAD3A-E0A6-4857-A9D8-7A2A452EC75C}" type="pres">
      <dgm:prSet presAssocID="{34C0DF6C-D591-421F-9D8B-2B9E1B8A7F2C}" presName="hierChild2" presStyleCnt="0"/>
      <dgm:spPr/>
    </dgm:pt>
    <dgm:pt modelId="{F1E4EA92-E99A-48AE-9A7E-DE83AF3A87F4}" type="pres">
      <dgm:prSet presAssocID="{9A4D4260-A0C8-4EE2-B2C8-F988586036FA}" presName="hierRoot1" presStyleCnt="0"/>
      <dgm:spPr/>
    </dgm:pt>
    <dgm:pt modelId="{5BE27447-1A6F-4A05-A7A8-D8B4E94547F0}" type="pres">
      <dgm:prSet presAssocID="{9A4D4260-A0C8-4EE2-B2C8-F988586036FA}" presName="composite" presStyleCnt="0"/>
      <dgm:spPr/>
    </dgm:pt>
    <dgm:pt modelId="{432AD2AB-6760-400F-99AC-07F0E850F842}" type="pres">
      <dgm:prSet presAssocID="{9A4D4260-A0C8-4EE2-B2C8-F988586036FA}" presName="background" presStyleLbl="node0" presStyleIdx="4" presStyleCnt="5"/>
      <dgm:spPr/>
    </dgm:pt>
    <dgm:pt modelId="{596B08E7-A3B0-4C2A-97C6-A306BEE44388}" type="pres">
      <dgm:prSet presAssocID="{9A4D4260-A0C8-4EE2-B2C8-F988586036FA}" presName="text" presStyleLbl="fgAcc0" presStyleIdx="4" presStyleCnt="5">
        <dgm:presLayoutVars>
          <dgm:chPref val="3"/>
        </dgm:presLayoutVars>
      </dgm:prSet>
      <dgm:spPr/>
    </dgm:pt>
    <dgm:pt modelId="{C38DE6BB-9851-470D-BAFC-D96F927A49CB}" type="pres">
      <dgm:prSet presAssocID="{9A4D4260-A0C8-4EE2-B2C8-F988586036FA}" presName="hierChild2" presStyleCnt="0"/>
      <dgm:spPr/>
    </dgm:pt>
  </dgm:ptLst>
  <dgm:cxnLst>
    <dgm:cxn modelId="{07F9E908-3411-4472-A9CD-C235B568F8DD}" srcId="{82B708FB-2BC8-4978-9AFD-BF3FE271ECB7}" destId="{0FC923A2-A593-4284-B5E2-D53742E7B8FF}" srcOrd="1" destOrd="0" parTransId="{C9537818-B19C-40E0-889C-3913C2CE49DC}" sibTransId="{CE9E8BF1-AC83-474B-BFD7-1953A0DEBE18}"/>
    <dgm:cxn modelId="{A01BAE13-E35E-4ED1-8707-56D50D472C85}" type="presOf" srcId="{DE0C0634-E9FB-4A33-A590-F4622706D157}" destId="{14D23D07-29DC-41EC-B575-AC70453B1A42}" srcOrd="0" destOrd="0" presId="urn:microsoft.com/office/officeart/2005/8/layout/hierarchy1"/>
    <dgm:cxn modelId="{B7076C2B-80EA-48A6-8C75-53CAA64DDC5C}" srcId="{82B708FB-2BC8-4978-9AFD-BF3FE271ECB7}" destId="{DE0C0634-E9FB-4A33-A590-F4622706D157}" srcOrd="0" destOrd="0" parTransId="{BF5CCDC9-DC75-49E5-8A61-BF684FE44641}" sibTransId="{C498C543-D81C-4E4F-A256-69A5594C095D}"/>
    <dgm:cxn modelId="{CC14B53B-4BA8-46C8-A273-D25B38E8C123}" srcId="{82B708FB-2BC8-4978-9AFD-BF3FE271ECB7}" destId="{9A4D4260-A0C8-4EE2-B2C8-F988586036FA}" srcOrd="4" destOrd="0" parTransId="{15F26ED0-E2EB-4134-A808-7446C00AB75E}" sibTransId="{028CD37A-1060-4306-9471-0202B289CD20}"/>
    <dgm:cxn modelId="{94CB025D-F9C5-4AE6-9065-8034E339B524}" type="presOf" srcId="{95D2D18E-2415-4321-A3E7-BF09DEC32AC0}" destId="{5326220C-40DD-43B7-8506-1DA00477288E}" srcOrd="0" destOrd="0" presId="urn:microsoft.com/office/officeart/2005/8/layout/hierarchy1"/>
    <dgm:cxn modelId="{B68F2142-470C-42C5-B507-802379CA7D39}" type="presOf" srcId="{34C0DF6C-D591-421F-9D8B-2B9E1B8A7F2C}" destId="{5F42AA9C-5264-453D-82CA-E4F7CAAE99D7}" srcOrd="0" destOrd="0" presId="urn:microsoft.com/office/officeart/2005/8/layout/hierarchy1"/>
    <dgm:cxn modelId="{4BE7A288-4EF0-4E96-B92A-732FD0A3B9C6}" type="presOf" srcId="{0FC923A2-A593-4284-B5E2-D53742E7B8FF}" destId="{1834B027-5BB5-450E-8DEB-AC6AC75363C3}" srcOrd="0" destOrd="0" presId="urn:microsoft.com/office/officeart/2005/8/layout/hierarchy1"/>
    <dgm:cxn modelId="{BBFFEBA5-D500-48E6-AD95-142BBBFA65FF}" srcId="{82B708FB-2BC8-4978-9AFD-BF3FE271ECB7}" destId="{34C0DF6C-D591-421F-9D8B-2B9E1B8A7F2C}" srcOrd="3" destOrd="0" parTransId="{311CC6F8-31F8-4220-974D-F35AD9412812}" sibTransId="{FFD6C28C-3F16-40DA-9687-2538B99DAB15}"/>
    <dgm:cxn modelId="{E2C7ADB9-8822-43E4-8BC2-DF79819A3DF2}" type="presOf" srcId="{9A4D4260-A0C8-4EE2-B2C8-F988586036FA}" destId="{596B08E7-A3B0-4C2A-97C6-A306BEE44388}" srcOrd="0" destOrd="0" presId="urn:microsoft.com/office/officeart/2005/8/layout/hierarchy1"/>
    <dgm:cxn modelId="{3FA6EDC8-73D1-413A-A5D9-1D44B16EEC6E}" srcId="{82B708FB-2BC8-4978-9AFD-BF3FE271ECB7}" destId="{95D2D18E-2415-4321-A3E7-BF09DEC32AC0}" srcOrd="2" destOrd="0" parTransId="{2385F9E4-9F59-4A89-AC1B-F936E1CADDC4}" sibTransId="{971E9630-9A11-443C-BBF0-CDC494EBB35B}"/>
    <dgm:cxn modelId="{615041FB-1642-4B36-B287-793297057460}" type="presOf" srcId="{82B708FB-2BC8-4978-9AFD-BF3FE271ECB7}" destId="{3DC86482-4FC4-4BC6-AAB1-32FB3F75573F}" srcOrd="0" destOrd="0" presId="urn:microsoft.com/office/officeart/2005/8/layout/hierarchy1"/>
    <dgm:cxn modelId="{9684293A-1A2B-4ED2-8B27-5D1CCA1D9A25}" type="presParOf" srcId="{3DC86482-4FC4-4BC6-AAB1-32FB3F75573F}" destId="{A68EE3DB-38BF-4E56-B003-97B82C5C6607}" srcOrd="0" destOrd="0" presId="urn:microsoft.com/office/officeart/2005/8/layout/hierarchy1"/>
    <dgm:cxn modelId="{D9368D36-838C-42D8-9DD0-26F0E30F2661}" type="presParOf" srcId="{A68EE3DB-38BF-4E56-B003-97B82C5C6607}" destId="{FF63BB6C-811F-4A9E-AD76-B992979CC914}" srcOrd="0" destOrd="0" presId="urn:microsoft.com/office/officeart/2005/8/layout/hierarchy1"/>
    <dgm:cxn modelId="{33AB27AB-30DC-4128-B701-3F054EFC2F60}" type="presParOf" srcId="{FF63BB6C-811F-4A9E-AD76-B992979CC914}" destId="{D2A2083D-8918-449B-83FC-7C4E6D3C00FB}" srcOrd="0" destOrd="0" presId="urn:microsoft.com/office/officeart/2005/8/layout/hierarchy1"/>
    <dgm:cxn modelId="{2D7CB026-17B6-438A-983C-4ACCE61E109B}" type="presParOf" srcId="{FF63BB6C-811F-4A9E-AD76-B992979CC914}" destId="{14D23D07-29DC-41EC-B575-AC70453B1A42}" srcOrd="1" destOrd="0" presId="urn:microsoft.com/office/officeart/2005/8/layout/hierarchy1"/>
    <dgm:cxn modelId="{69203584-65C5-40AF-8F35-66D0F5E0ABE2}" type="presParOf" srcId="{A68EE3DB-38BF-4E56-B003-97B82C5C6607}" destId="{00D1381F-FC43-45CF-8F03-34ED143D77BC}" srcOrd="1" destOrd="0" presId="urn:microsoft.com/office/officeart/2005/8/layout/hierarchy1"/>
    <dgm:cxn modelId="{01A86FCD-84BB-4B72-AEF2-4CAE3BA84AE5}" type="presParOf" srcId="{3DC86482-4FC4-4BC6-AAB1-32FB3F75573F}" destId="{9FB1907C-8365-4A45-8E09-EDB1A90D0927}" srcOrd="1" destOrd="0" presId="urn:microsoft.com/office/officeart/2005/8/layout/hierarchy1"/>
    <dgm:cxn modelId="{825FBAAD-D900-42E8-92CF-67F4C617DC1A}" type="presParOf" srcId="{9FB1907C-8365-4A45-8E09-EDB1A90D0927}" destId="{312BEB13-7127-41AD-A421-2781B9C4E738}" srcOrd="0" destOrd="0" presId="urn:microsoft.com/office/officeart/2005/8/layout/hierarchy1"/>
    <dgm:cxn modelId="{6E1EFFAE-7D14-4B05-B36E-C968F4743D0D}" type="presParOf" srcId="{312BEB13-7127-41AD-A421-2781B9C4E738}" destId="{97EDAE78-437A-4984-AF6B-4328F15896DE}" srcOrd="0" destOrd="0" presId="urn:microsoft.com/office/officeart/2005/8/layout/hierarchy1"/>
    <dgm:cxn modelId="{712B8DA2-DF3C-4B36-B3A6-EC227FBDFB25}" type="presParOf" srcId="{312BEB13-7127-41AD-A421-2781B9C4E738}" destId="{1834B027-5BB5-450E-8DEB-AC6AC75363C3}" srcOrd="1" destOrd="0" presId="urn:microsoft.com/office/officeart/2005/8/layout/hierarchy1"/>
    <dgm:cxn modelId="{56114959-CDA3-4811-B308-C09E57411601}" type="presParOf" srcId="{9FB1907C-8365-4A45-8E09-EDB1A90D0927}" destId="{FCC07162-B0D4-4D9B-859B-B3FC7FF7AAB1}" srcOrd="1" destOrd="0" presId="urn:microsoft.com/office/officeart/2005/8/layout/hierarchy1"/>
    <dgm:cxn modelId="{24A5EC2F-14C3-4D6F-9A53-E1AF889C4338}" type="presParOf" srcId="{3DC86482-4FC4-4BC6-AAB1-32FB3F75573F}" destId="{D597D20A-17AB-49D3-A8C0-43AD04FCE914}" srcOrd="2" destOrd="0" presId="urn:microsoft.com/office/officeart/2005/8/layout/hierarchy1"/>
    <dgm:cxn modelId="{12442961-0863-41B7-8991-9405F1650508}" type="presParOf" srcId="{D597D20A-17AB-49D3-A8C0-43AD04FCE914}" destId="{F7E311B9-0B4F-4F9B-BE75-508BA4FBDA67}" srcOrd="0" destOrd="0" presId="urn:microsoft.com/office/officeart/2005/8/layout/hierarchy1"/>
    <dgm:cxn modelId="{6166D4C6-9FCB-4CC9-84F9-11942D7A2EE1}" type="presParOf" srcId="{F7E311B9-0B4F-4F9B-BE75-508BA4FBDA67}" destId="{A6861853-8FD7-4724-9AA1-5AC4AB1FC264}" srcOrd="0" destOrd="0" presId="urn:microsoft.com/office/officeart/2005/8/layout/hierarchy1"/>
    <dgm:cxn modelId="{AA0F2545-7F65-4D99-8583-77FB331C8874}" type="presParOf" srcId="{F7E311B9-0B4F-4F9B-BE75-508BA4FBDA67}" destId="{5326220C-40DD-43B7-8506-1DA00477288E}" srcOrd="1" destOrd="0" presId="urn:microsoft.com/office/officeart/2005/8/layout/hierarchy1"/>
    <dgm:cxn modelId="{95DFA69D-2E33-4457-8C21-118C2CDB9672}" type="presParOf" srcId="{D597D20A-17AB-49D3-A8C0-43AD04FCE914}" destId="{B227C378-456D-4965-BA57-DDA63C8B3588}" srcOrd="1" destOrd="0" presId="urn:microsoft.com/office/officeart/2005/8/layout/hierarchy1"/>
    <dgm:cxn modelId="{7B8AAF2E-CF5F-407B-B26A-DFFA5CBC2A01}" type="presParOf" srcId="{3DC86482-4FC4-4BC6-AAB1-32FB3F75573F}" destId="{E330C0D4-6B0A-4EAF-A55A-174803EA265E}" srcOrd="3" destOrd="0" presId="urn:microsoft.com/office/officeart/2005/8/layout/hierarchy1"/>
    <dgm:cxn modelId="{0C75D6AA-FC52-4191-A964-1D64E4B68FE4}" type="presParOf" srcId="{E330C0D4-6B0A-4EAF-A55A-174803EA265E}" destId="{4E3FEF7C-D010-436A-AD69-7138A0E03C1E}" srcOrd="0" destOrd="0" presId="urn:microsoft.com/office/officeart/2005/8/layout/hierarchy1"/>
    <dgm:cxn modelId="{2EFE6358-EB06-4680-97BD-EFF273A031AC}" type="presParOf" srcId="{4E3FEF7C-D010-436A-AD69-7138A0E03C1E}" destId="{75E03448-4EFC-4A7B-94B5-D5F704DFE82F}" srcOrd="0" destOrd="0" presId="urn:microsoft.com/office/officeart/2005/8/layout/hierarchy1"/>
    <dgm:cxn modelId="{E66AD22E-251B-48F0-8202-8B684D493CCE}" type="presParOf" srcId="{4E3FEF7C-D010-436A-AD69-7138A0E03C1E}" destId="{5F42AA9C-5264-453D-82CA-E4F7CAAE99D7}" srcOrd="1" destOrd="0" presId="urn:microsoft.com/office/officeart/2005/8/layout/hierarchy1"/>
    <dgm:cxn modelId="{5D8CA38B-BA67-4840-B6C2-A5E4300EB406}" type="presParOf" srcId="{E330C0D4-6B0A-4EAF-A55A-174803EA265E}" destId="{8DBFAD3A-E0A6-4857-A9D8-7A2A452EC75C}" srcOrd="1" destOrd="0" presId="urn:microsoft.com/office/officeart/2005/8/layout/hierarchy1"/>
    <dgm:cxn modelId="{797EF553-F066-4B42-B6AA-50C4B56C7F4E}" type="presParOf" srcId="{3DC86482-4FC4-4BC6-AAB1-32FB3F75573F}" destId="{F1E4EA92-E99A-48AE-9A7E-DE83AF3A87F4}" srcOrd="4" destOrd="0" presId="urn:microsoft.com/office/officeart/2005/8/layout/hierarchy1"/>
    <dgm:cxn modelId="{E00D8A63-EE57-408C-B37E-40D3EDB4246A}" type="presParOf" srcId="{F1E4EA92-E99A-48AE-9A7E-DE83AF3A87F4}" destId="{5BE27447-1A6F-4A05-A7A8-D8B4E94547F0}" srcOrd="0" destOrd="0" presId="urn:microsoft.com/office/officeart/2005/8/layout/hierarchy1"/>
    <dgm:cxn modelId="{5CCE4382-3909-47BC-925B-61451981F670}" type="presParOf" srcId="{5BE27447-1A6F-4A05-A7A8-D8B4E94547F0}" destId="{432AD2AB-6760-400F-99AC-07F0E850F842}" srcOrd="0" destOrd="0" presId="urn:microsoft.com/office/officeart/2005/8/layout/hierarchy1"/>
    <dgm:cxn modelId="{6A6B97EA-32F1-4DF0-AD6A-9A5B86621A48}" type="presParOf" srcId="{5BE27447-1A6F-4A05-A7A8-D8B4E94547F0}" destId="{596B08E7-A3B0-4C2A-97C6-A306BEE44388}" srcOrd="1" destOrd="0" presId="urn:microsoft.com/office/officeart/2005/8/layout/hierarchy1"/>
    <dgm:cxn modelId="{77931C79-CD36-4D25-B4B1-4975F826168A}" type="presParOf" srcId="{F1E4EA92-E99A-48AE-9A7E-DE83AF3A87F4}" destId="{C38DE6BB-9851-470D-BAFC-D96F927A49C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FFEA69-85F5-416A-AD55-1461AF78168D}">
      <dsp:nvSpPr>
        <dsp:cNvPr id="0" name=""/>
        <dsp:cNvSpPr/>
      </dsp:nvSpPr>
      <dsp:spPr>
        <a:xfrm rot="5400000">
          <a:off x="6301587" y="-2303662"/>
          <a:ext cx="1698041"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The product owner represents the customer or business, they are responsible for defining the ‘what’ and managing product backlog (Cobb, 2023;Asana, 2025)</a:t>
          </a:r>
        </a:p>
      </dsp:txBody>
      <dsp:txXfrm rot="-5400000">
        <a:off x="3785616" y="295201"/>
        <a:ext cx="6647092" cy="1532257"/>
      </dsp:txXfrm>
    </dsp:sp>
    <dsp:sp modelId="{5B287AB9-5C09-4763-9520-E0237F383F19}">
      <dsp:nvSpPr>
        <dsp:cNvPr id="0" name=""/>
        <dsp:cNvSpPr/>
      </dsp:nvSpPr>
      <dsp:spPr>
        <a:xfrm>
          <a:off x="0" y="53"/>
          <a:ext cx="3785616" cy="2122552"/>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8600" tIns="114300" rIns="228600" bIns="114300" numCol="1" spcCol="1270" anchor="ctr" anchorCtr="0">
          <a:noAutofit/>
        </a:bodyPr>
        <a:lstStyle/>
        <a:p>
          <a:pPr marL="0" lvl="0" indent="0" algn="ctr" defTabSz="2667000">
            <a:lnSpc>
              <a:spcPct val="90000"/>
            </a:lnSpc>
            <a:spcBef>
              <a:spcPct val="0"/>
            </a:spcBef>
            <a:spcAft>
              <a:spcPct val="35000"/>
            </a:spcAft>
            <a:buNone/>
          </a:pPr>
          <a:r>
            <a:rPr lang="en-US" sz="6000" kern="1200"/>
            <a:t>Product Owner</a:t>
          </a:r>
        </a:p>
      </dsp:txBody>
      <dsp:txXfrm>
        <a:off x="103614" y="103667"/>
        <a:ext cx="3578388" cy="1915324"/>
      </dsp:txXfrm>
    </dsp:sp>
    <dsp:sp modelId="{BC6C54DC-BD8C-4726-98D7-6670CE52BCCF}">
      <dsp:nvSpPr>
        <dsp:cNvPr id="0" name=""/>
        <dsp:cNvSpPr/>
      </dsp:nvSpPr>
      <dsp:spPr>
        <a:xfrm rot="5400000">
          <a:off x="6301587" y="-74983"/>
          <a:ext cx="1698041"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A servant type leader, meant to ensure the team understands and follows scrum practices(Scrum.org, 2025). A major part of their job is being the removal of impediments for the development team (</a:t>
          </a:r>
          <a:r>
            <a:rPr lang="en-US" sz="2000" kern="1200" dirty="0" err="1"/>
            <a:t>KnowledgeHut</a:t>
          </a:r>
          <a:r>
            <a:rPr lang="en-US" sz="2000" kern="1200" dirty="0"/>
            <a:t>, 2025)</a:t>
          </a:r>
        </a:p>
      </dsp:txBody>
      <dsp:txXfrm rot="-5400000">
        <a:off x="3785616" y="2523880"/>
        <a:ext cx="6647092" cy="1532257"/>
      </dsp:txXfrm>
    </dsp:sp>
    <dsp:sp modelId="{4AB56E2B-E3FE-41C3-8F28-858998BC6BB6}">
      <dsp:nvSpPr>
        <dsp:cNvPr id="0" name=""/>
        <dsp:cNvSpPr/>
      </dsp:nvSpPr>
      <dsp:spPr>
        <a:xfrm>
          <a:off x="0" y="2228732"/>
          <a:ext cx="3785616" cy="2122552"/>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8600" tIns="114300" rIns="228600" bIns="114300" numCol="1" spcCol="1270" anchor="ctr" anchorCtr="0">
          <a:noAutofit/>
        </a:bodyPr>
        <a:lstStyle/>
        <a:p>
          <a:pPr marL="0" lvl="0" indent="0" algn="ctr" defTabSz="2667000">
            <a:lnSpc>
              <a:spcPct val="90000"/>
            </a:lnSpc>
            <a:spcBef>
              <a:spcPct val="0"/>
            </a:spcBef>
            <a:spcAft>
              <a:spcPct val="35000"/>
            </a:spcAft>
            <a:buNone/>
          </a:pPr>
          <a:r>
            <a:rPr lang="en-US" sz="6000" kern="1200"/>
            <a:t>Scrum Master</a:t>
          </a:r>
        </a:p>
      </dsp:txBody>
      <dsp:txXfrm>
        <a:off x="103614" y="2332346"/>
        <a:ext cx="3578388" cy="19153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FFEA69-85F5-416A-AD55-1461AF78168D}">
      <dsp:nvSpPr>
        <dsp:cNvPr id="0" name=""/>
        <dsp:cNvSpPr/>
      </dsp:nvSpPr>
      <dsp:spPr>
        <a:xfrm rot="5400000">
          <a:off x="5410072" y="-1189323"/>
          <a:ext cx="3481070"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Char char="•"/>
          </a:pPr>
          <a:r>
            <a:rPr lang="en-US" sz="2500" kern="1200" dirty="0"/>
            <a:t>This consists of two groups, testers and developers (</a:t>
          </a:r>
          <a:r>
            <a:rPr lang="en-US" sz="2500" kern="1200" dirty="0" err="1"/>
            <a:t>TeamForm</a:t>
          </a:r>
          <a:r>
            <a:rPr lang="en-US" sz="2500" kern="1200" dirty="0"/>
            <a:t>, 2025).</a:t>
          </a:r>
        </a:p>
        <a:p>
          <a:pPr marL="228600" lvl="1" indent="-228600" algn="l" defTabSz="1111250">
            <a:lnSpc>
              <a:spcPct val="90000"/>
            </a:lnSpc>
            <a:spcBef>
              <a:spcPct val="0"/>
            </a:spcBef>
            <a:spcAft>
              <a:spcPct val="15000"/>
            </a:spcAft>
            <a:buChar char="•"/>
          </a:pPr>
          <a:r>
            <a:rPr lang="en-US" sz="2500" kern="1200" dirty="0"/>
            <a:t>They should be self-managing, and cross-functioning to create the working product every sprint (</a:t>
          </a:r>
          <a:r>
            <a:rPr lang="en-US" sz="2500" kern="1200" dirty="0" err="1"/>
            <a:t>TeamForm</a:t>
          </a:r>
          <a:r>
            <a:rPr lang="en-US" sz="2500" kern="1200" dirty="0"/>
            <a:t>, 2025).</a:t>
          </a:r>
        </a:p>
        <a:p>
          <a:pPr marL="228600" lvl="1" indent="-228600" algn="l" defTabSz="1111250">
            <a:lnSpc>
              <a:spcPct val="90000"/>
            </a:lnSpc>
            <a:spcBef>
              <a:spcPct val="0"/>
            </a:spcBef>
            <a:spcAft>
              <a:spcPct val="15000"/>
            </a:spcAft>
            <a:buChar char="•"/>
          </a:pPr>
          <a:r>
            <a:rPr lang="en-US" sz="2500" kern="1200" dirty="0"/>
            <a:t>Testers test what the developer make, and developers improve based on the testers references in an endless cycle (Cobb, 2023).</a:t>
          </a:r>
        </a:p>
      </dsp:txBody>
      <dsp:txXfrm rot="-5400000">
        <a:off x="3785615" y="605066"/>
        <a:ext cx="6560052" cy="3141206"/>
      </dsp:txXfrm>
    </dsp:sp>
    <dsp:sp modelId="{5B287AB9-5C09-4763-9520-E0237F383F19}">
      <dsp:nvSpPr>
        <dsp:cNvPr id="0" name=""/>
        <dsp:cNvSpPr/>
      </dsp:nvSpPr>
      <dsp:spPr>
        <a:xfrm>
          <a:off x="0" y="0"/>
          <a:ext cx="3785616" cy="4351338"/>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6210" tIns="78105" rIns="156210" bIns="78105" numCol="1" spcCol="1270" anchor="ctr" anchorCtr="0">
          <a:noAutofit/>
        </a:bodyPr>
        <a:lstStyle/>
        <a:p>
          <a:pPr marL="0" lvl="0" indent="0" algn="ctr" defTabSz="1822450">
            <a:lnSpc>
              <a:spcPct val="90000"/>
            </a:lnSpc>
            <a:spcBef>
              <a:spcPct val="0"/>
            </a:spcBef>
            <a:spcAft>
              <a:spcPct val="35000"/>
            </a:spcAft>
            <a:buNone/>
          </a:pPr>
          <a:r>
            <a:rPr lang="en-US" sz="4100" kern="1200" dirty="0"/>
            <a:t>Development Team</a:t>
          </a:r>
        </a:p>
      </dsp:txBody>
      <dsp:txXfrm>
        <a:off x="184799" y="184799"/>
        <a:ext cx="3416018" cy="39817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A2083D-8918-449B-83FC-7C4E6D3C00FB}">
      <dsp:nvSpPr>
        <dsp:cNvPr id="0" name=""/>
        <dsp:cNvSpPr/>
      </dsp:nvSpPr>
      <dsp:spPr>
        <a:xfrm>
          <a:off x="3547" y="964904"/>
          <a:ext cx="1728557" cy="109763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D23D07-29DC-41EC-B575-AC70453B1A42}">
      <dsp:nvSpPr>
        <dsp:cNvPr id="0" name=""/>
        <dsp:cNvSpPr/>
      </dsp:nvSpPr>
      <dsp:spPr>
        <a:xfrm>
          <a:off x="195609" y="1147363"/>
          <a:ext cx="1728557" cy="109763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a:t>Asana. (2025). What is a product owner? Secret to Scrum 	success. [Blog post]. Retrieved from 	</a:t>
          </a:r>
          <a:r>
            <a:rPr lang="en-US" sz="500" kern="1200">
              <a:hlinkClick xmlns:r="http://schemas.openxmlformats.org/officeDocument/2006/relationships" r:id="rId1"/>
            </a:rPr>
            <a:t>https://asana.com/resources/product-owner</a:t>
          </a:r>
          <a:endParaRPr lang="en-US" sz="500" kern="1200"/>
        </a:p>
      </dsp:txBody>
      <dsp:txXfrm>
        <a:off x="227758" y="1179512"/>
        <a:ext cx="1664259" cy="1033336"/>
      </dsp:txXfrm>
    </dsp:sp>
    <dsp:sp modelId="{97EDAE78-437A-4984-AF6B-4328F15896DE}">
      <dsp:nvSpPr>
        <dsp:cNvPr id="0" name=""/>
        <dsp:cNvSpPr/>
      </dsp:nvSpPr>
      <dsp:spPr>
        <a:xfrm>
          <a:off x="2116228" y="964904"/>
          <a:ext cx="1728557" cy="109763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34B027-5BB5-450E-8DEB-AC6AC75363C3}">
      <dsp:nvSpPr>
        <dsp:cNvPr id="0" name=""/>
        <dsp:cNvSpPr/>
      </dsp:nvSpPr>
      <dsp:spPr>
        <a:xfrm>
          <a:off x="2308290" y="1147363"/>
          <a:ext cx="1728557" cy="109763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a:t>Cobb, C. G. (2023). The project manager's guide to mastering 	agile: Principles and practices for an adaptive approach (2nd 	ed.). Wiley.</a:t>
          </a:r>
        </a:p>
      </dsp:txBody>
      <dsp:txXfrm>
        <a:off x="2340439" y="1179512"/>
        <a:ext cx="1664259" cy="1033336"/>
      </dsp:txXfrm>
    </dsp:sp>
    <dsp:sp modelId="{A6861853-8FD7-4724-9AA1-5AC4AB1FC264}">
      <dsp:nvSpPr>
        <dsp:cNvPr id="0" name=""/>
        <dsp:cNvSpPr/>
      </dsp:nvSpPr>
      <dsp:spPr>
        <a:xfrm>
          <a:off x="4228910" y="964904"/>
          <a:ext cx="1728557" cy="109763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26220C-40DD-43B7-8506-1DA00477288E}">
      <dsp:nvSpPr>
        <dsp:cNvPr id="0" name=""/>
        <dsp:cNvSpPr/>
      </dsp:nvSpPr>
      <dsp:spPr>
        <a:xfrm>
          <a:off x="4420972" y="1147363"/>
          <a:ext cx="1728557" cy="109763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dirty="0" err="1"/>
            <a:t>KnowledgeHut</a:t>
          </a:r>
          <a:r>
            <a:rPr lang="en-US" sz="500" kern="1200" dirty="0"/>
            <a:t>. (2025). Scrum Master – the Scrum team's servant-	leader! [Blog post]. Retrieved from 	</a:t>
          </a:r>
          <a:r>
            <a:rPr lang="en-US" sz="500" kern="1200" dirty="0">
              <a:hlinkClick xmlns:r="http://schemas.openxmlformats.org/officeDocument/2006/relationships" r:id="rId2"/>
            </a:rPr>
            <a:t>https://www.knowledgehut.com/blog/agile/scrum-master-as-</a:t>
          </a:r>
          <a:r>
            <a:rPr lang="en-US" sz="500" kern="1200" dirty="0"/>
            <a:t>team-servant-leader</a:t>
          </a:r>
        </a:p>
      </dsp:txBody>
      <dsp:txXfrm>
        <a:off x="4453121" y="1179512"/>
        <a:ext cx="1664259" cy="1033336"/>
      </dsp:txXfrm>
    </dsp:sp>
    <dsp:sp modelId="{75E03448-4EFC-4A7B-94B5-D5F704DFE82F}">
      <dsp:nvSpPr>
        <dsp:cNvPr id="0" name=""/>
        <dsp:cNvSpPr/>
      </dsp:nvSpPr>
      <dsp:spPr>
        <a:xfrm>
          <a:off x="6341591" y="964904"/>
          <a:ext cx="1728557" cy="109763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42AA9C-5264-453D-82CA-E4F7CAAE99D7}">
      <dsp:nvSpPr>
        <dsp:cNvPr id="0" name=""/>
        <dsp:cNvSpPr/>
      </dsp:nvSpPr>
      <dsp:spPr>
        <a:xfrm>
          <a:off x="6533653" y="1147363"/>
          <a:ext cx="1728557" cy="109763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a:t>Scrum.org. (2025). The Scrum Master as an impediment remover. [Blog post]. Retrieved from https://www.scrum.org/resources/blog/scrum-master-impediment-remover</a:t>
          </a:r>
        </a:p>
      </dsp:txBody>
      <dsp:txXfrm>
        <a:off x="6565802" y="1179512"/>
        <a:ext cx="1664259" cy="1033336"/>
      </dsp:txXfrm>
    </dsp:sp>
    <dsp:sp modelId="{432AD2AB-6760-400F-99AC-07F0E850F842}">
      <dsp:nvSpPr>
        <dsp:cNvPr id="0" name=""/>
        <dsp:cNvSpPr/>
      </dsp:nvSpPr>
      <dsp:spPr>
        <a:xfrm>
          <a:off x="8454273" y="964904"/>
          <a:ext cx="1728557" cy="109763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6B08E7-A3B0-4C2A-97C6-A306BEE44388}">
      <dsp:nvSpPr>
        <dsp:cNvPr id="0" name=""/>
        <dsp:cNvSpPr/>
      </dsp:nvSpPr>
      <dsp:spPr>
        <a:xfrm>
          <a:off x="8646335" y="1147363"/>
          <a:ext cx="1728557" cy="109763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kern="1200"/>
            <a:t>TeamForm. (2025). Cross-functional teams in 2025. [Guide]. Retrieved from https://www.teamform.co/guides/cross-functional-teams-in-2025</a:t>
          </a:r>
        </a:p>
      </dsp:txBody>
      <dsp:txXfrm>
        <a:off x="8678484" y="1179512"/>
        <a:ext cx="1664259" cy="1033336"/>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476D51-DC1B-476A-929C-BEF7EC576C64}" type="datetimeFigureOut">
              <a:rPr lang="en-US" smtClean="0"/>
              <a:t>10/14/2025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F10004-4577-416B-8DD5-CF45D641CC7F}" type="slidenum">
              <a:rPr lang="en-US" smtClean="0"/>
              <a:t>‹#›</a:t>
            </a:fld>
            <a:endParaRPr lang="en-US"/>
          </a:p>
        </p:txBody>
      </p:sp>
    </p:spTree>
    <p:extLst>
      <p:ext uri="{BB962C8B-B14F-4D97-AF65-F5344CB8AC3E}">
        <p14:creationId xmlns:p14="http://schemas.microsoft.com/office/powerpoint/2010/main" val="72218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F10004-4577-416B-8DD5-CF45D641CC7F}" type="slidenum">
              <a:rPr lang="en-US" smtClean="0"/>
              <a:t>2</a:t>
            </a:fld>
            <a:endParaRPr lang="en-US"/>
          </a:p>
        </p:txBody>
      </p:sp>
    </p:spTree>
    <p:extLst>
      <p:ext uri="{BB962C8B-B14F-4D97-AF65-F5344CB8AC3E}">
        <p14:creationId xmlns:p14="http://schemas.microsoft.com/office/powerpoint/2010/main" val="3254417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F10004-4577-416B-8DD5-CF45D641CC7F}" type="slidenum">
              <a:rPr lang="en-US" smtClean="0"/>
              <a:t>3</a:t>
            </a:fld>
            <a:endParaRPr lang="en-US"/>
          </a:p>
        </p:txBody>
      </p:sp>
    </p:spTree>
    <p:extLst>
      <p:ext uri="{BB962C8B-B14F-4D97-AF65-F5344CB8AC3E}">
        <p14:creationId xmlns:p14="http://schemas.microsoft.com/office/powerpoint/2010/main" val="35466375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F10004-4577-416B-8DD5-CF45D641CC7F}" type="slidenum">
              <a:rPr lang="en-US" smtClean="0"/>
              <a:t>7</a:t>
            </a:fld>
            <a:endParaRPr lang="en-US"/>
          </a:p>
        </p:txBody>
      </p:sp>
    </p:spTree>
    <p:extLst>
      <p:ext uri="{BB962C8B-B14F-4D97-AF65-F5344CB8AC3E}">
        <p14:creationId xmlns:p14="http://schemas.microsoft.com/office/powerpoint/2010/main" val="4233124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AD4E0-1A13-3858-D452-4D180B6484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9516B7-0E12-7B73-5CE3-CAC81ADE2E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5D3553-DE2D-0A40-9F4B-D2086A2FA761}"/>
              </a:ext>
            </a:extLst>
          </p:cNvPr>
          <p:cNvSpPr>
            <a:spLocks noGrp="1"/>
          </p:cNvSpPr>
          <p:nvPr>
            <p:ph type="dt" sz="half" idx="10"/>
          </p:nvPr>
        </p:nvSpPr>
        <p:spPr/>
        <p:txBody>
          <a:bodyPr/>
          <a:lstStyle/>
          <a:p>
            <a:fld id="{F438C9EC-7EE7-4A40-8EA6-BFA6DE05E22F}" type="datetimeFigureOut">
              <a:rPr lang="en-US" smtClean="0"/>
              <a:t>10/14/2025</a:t>
            </a:fld>
            <a:endParaRPr lang="en-US"/>
          </a:p>
        </p:txBody>
      </p:sp>
      <p:sp>
        <p:nvSpPr>
          <p:cNvPr id="5" name="Footer Placeholder 4">
            <a:extLst>
              <a:ext uri="{FF2B5EF4-FFF2-40B4-BE49-F238E27FC236}">
                <a16:creationId xmlns:a16="http://schemas.microsoft.com/office/drawing/2014/main" id="{27E0E107-7CB8-07FF-5E26-A640BD56DA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FC1F6D-D683-920B-17ED-8A22381A4D5A}"/>
              </a:ext>
            </a:extLst>
          </p:cNvPr>
          <p:cNvSpPr>
            <a:spLocks noGrp="1"/>
          </p:cNvSpPr>
          <p:nvPr>
            <p:ph type="sldNum" sz="quarter" idx="12"/>
          </p:nvPr>
        </p:nvSpPr>
        <p:spPr/>
        <p:txBody>
          <a:bodyPr/>
          <a:lstStyle/>
          <a:p>
            <a:fld id="{39A13427-792A-4F82-8CD8-B8D49C33B6EB}" type="slidenum">
              <a:rPr lang="en-US" smtClean="0"/>
              <a:t>‹#›</a:t>
            </a:fld>
            <a:endParaRPr lang="en-US"/>
          </a:p>
        </p:txBody>
      </p:sp>
    </p:spTree>
    <p:extLst>
      <p:ext uri="{BB962C8B-B14F-4D97-AF65-F5344CB8AC3E}">
        <p14:creationId xmlns:p14="http://schemas.microsoft.com/office/powerpoint/2010/main" val="1735786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AA9B9-1935-D4DB-65CD-1892A3422C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8AFCAE-117D-5C51-5BA8-8D11F93348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CB5684-DBBD-BB8C-0445-B46D78636643}"/>
              </a:ext>
            </a:extLst>
          </p:cNvPr>
          <p:cNvSpPr>
            <a:spLocks noGrp="1"/>
          </p:cNvSpPr>
          <p:nvPr>
            <p:ph type="dt" sz="half" idx="10"/>
          </p:nvPr>
        </p:nvSpPr>
        <p:spPr/>
        <p:txBody>
          <a:bodyPr/>
          <a:lstStyle/>
          <a:p>
            <a:fld id="{F438C9EC-7EE7-4A40-8EA6-BFA6DE05E22F}" type="datetimeFigureOut">
              <a:rPr lang="en-US" smtClean="0"/>
              <a:t>10/14/2025</a:t>
            </a:fld>
            <a:endParaRPr lang="en-US"/>
          </a:p>
        </p:txBody>
      </p:sp>
      <p:sp>
        <p:nvSpPr>
          <p:cNvPr id="5" name="Footer Placeholder 4">
            <a:extLst>
              <a:ext uri="{FF2B5EF4-FFF2-40B4-BE49-F238E27FC236}">
                <a16:creationId xmlns:a16="http://schemas.microsoft.com/office/drawing/2014/main" id="{22DCA744-53A9-FF18-948C-59D010666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7CDAD9-F96D-9C4F-078C-185574B65DA1}"/>
              </a:ext>
            </a:extLst>
          </p:cNvPr>
          <p:cNvSpPr>
            <a:spLocks noGrp="1"/>
          </p:cNvSpPr>
          <p:nvPr>
            <p:ph type="sldNum" sz="quarter" idx="12"/>
          </p:nvPr>
        </p:nvSpPr>
        <p:spPr/>
        <p:txBody>
          <a:bodyPr/>
          <a:lstStyle/>
          <a:p>
            <a:fld id="{39A13427-792A-4F82-8CD8-B8D49C33B6EB}" type="slidenum">
              <a:rPr lang="en-US" smtClean="0"/>
              <a:t>‹#›</a:t>
            </a:fld>
            <a:endParaRPr lang="en-US"/>
          </a:p>
        </p:txBody>
      </p:sp>
    </p:spTree>
    <p:extLst>
      <p:ext uri="{BB962C8B-B14F-4D97-AF65-F5344CB8AC3E}">
        <p14:creationId xmlns:p14="http://schemas.microsoft.com/office/powerpoint/2010/main" val="192390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2B866-B99C-9604-5518-70146E96E7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A5860E-D98F-14CB-9DAA-5061C6A93D8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40D56B-E8B5-13D5-FAEB-CF59454EE08E}"/>
              </a:ext>
            </a:extLst>
          </p:cNvPr>
          <p:cNvSpPr>
            <a:spLocks noGrp="1"/>
          </p:cNvSpPr>
          <p:nvPr>
            <p:ph type="dt" sz="half" idx="10"/>
          </p:nvPr>
        </p:nvSpPr>
        <p:spPr/>
        <p:txBody>
          <a:bodyPr/>
          <a:lstStyle/>
          <a:p>
            <a:fld id="{F438C9EC-7EE7-4A40-8EA6-BFA6DE05E22F}" type="datetimeFigureOut">
              <a:rPr lang="en-US" smtClean="0"/>
              <a:t>10/14/2025</a:t>
            </a:fld>
            <a:endParaRPr lang="en-US"/>
          </a:p>
        </p:txBody>
      </p:sp>
      <p:sp>
        <p:nvSpPr>
          <p:cNvPr id="5" name="Footer Placeholder 4">
            <a:extLst>
              <a:ext uri="{FF2B5EF4-FFF2-40B4-BE49-F238E27FC236}">
                <a16:creationId xmlns:a16="http://schemas.microsoft.com/office/drawing/2014/main" id="{9D6973C9-8502-22A2-D71A-8413B25F0B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ECABF0-091A-6554-3DAC-1E9B8CD5FC9A}"/>
              </a:ext>
            </a:extLst>
          </p:cNvPr>
          <p:cNvSpPr>
            <a:spLocks noGrp="1"/>
          </p:cNvSpPr>
          <p:nvPr>
            <p:ph type="sldNum" sz="quarter" idx="12"/>
          </p:nvPr>
        </p:nvSpPr>
        <p:spPr/>
        <p:txBody>
          <a:bodyPr/>
          <a:lstStyle/>
          <a:p>
            <a:fld id="{39A13427-792A-4F82-8CD8-B8D49C33B6EB}" type="slidenum">
              <a:rPr lang="en-US" smtClean="0"/>
              <a:t>‹#›</a:t>
            </a:fld>
            <a:endParaRPr lang="en-US"/>
          </a:p>
        </p:txBody>
      </p:sp>
    </p:spTree>
    <p:extLst>
      <p:ext uri="{BB962C8B-B14F-4D97-AF65-F5344CB8AC3E}">
        <p14:creationId xmlns:p14="http://schemas.microsoft.com/office/powerpoint/2010/main" val="3620172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A9E4C-28D8-8AD8-A7CD-FA5CCD25B8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1551CA-6140-9271-9656-503EF06544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314091-0E2A-30A5-C9AB-503776B36D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C26542-882D-4CEA-7DC0-C99F06B71585}"/>
              </a:ext>
            </a:extLst>
          </p:cNvPr>
          <p:cNvSpPr>
            <a:spLocks noGrp="1"/>
          </p:cNvSpPr>
          <p:nvPr>
            <p:ph type="dt" sz="half" idx="10"/>
          </p:nvPr>
        </p:nvSpPr>
        <p:spPr/>
        <p:txBody>
          <a:bodyPr/>
          <a:lstStyle/>
          <a:p>
            <a:fld id="{F438C9EC-7EE7-4A40-8EA6-BFA6DE05E22F}" type="datetimeFigureOut">
              <a:rPr lang="en-US" smtClean="0"/>
              <a:t>10/14/2025</a:t>
            </a:fld>
            <a:endParaRPr lang="en-US"/>
          </a:p>
        </p:txBody>
      </p:sp>
      <p:sp>
        <p:nvSpPr>
          <p:cNvPr id="6" name="Footer Placeholder 5">
            <a:extLst>
              <a:ext uri="{FF2B5EF4-FFF2-40B4-BE49-F238E27FC236}">
                <a16:creationId xmlns:a16="http://schemas.microsoft.com/office/drawing/2014/main" id="{0582148B-6CD3-D805-0ED0-4A84EC3067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A5BC1C-B4E6-D826-E22D-DCBCACC2102B}"/>
              </a:ext>
            </a:extLst>
          </p:cNvPr>
          <p:cNvSpPr>
            <a:spLocks noGrp="1"/>
          </p:cNvSpPr>
          <p:nvPr>
            <p:ph type="sldNum" sz="quarter" idx="12"/>
          </p:nvPr>
        </p:nvSpPr>
        <p:spPr/>
        <p:txBody>
          <a:bodyPr/>
          <a:lstStyle/>
          <a:p>
            <a:fld id="{39A13427-792A-4F82-8CD8-B8D49C33B6EB}" type="slidenum">
              <a:rPr lang="en-US" smtClean="0"/>
              <a:t>‹#›</a:t>
            </a:fld>
            <a:endParaRPr lang="en-US"/>
          </a:p>
        </p:txBody>
      </p:sp>
    </p:spTree>
    <p:extLst>
      <p:ext uri="{BB962C8B-B14F-4D97-AF65-F5344CB8AC3E}">
        <p14:creationId xmlns:p14="http://schemas.microsoft.com/office/powerpoint/2010/main" val="2327062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16CBE-4A97-16F4-56AF-01E12A9BE6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992276D-2181-CB05-918C-B3E3A514BF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8B9097-98E9-E765-91F1-86D5C784E3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F8E0C3A-85EF-B6BB-3708-9A3AE97B27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C8E2DA-B942-A073-5A31-92DA200FB9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E347B2-4F4A-B77C-C542-570693D685D6}"/>
              </a:ext>
            </a:extLst>
          </p:cNvPr>
          <p:cNvSpPr>
            <a:spLocks noGrp="1"/>
          </p:cNvSpPr>
          <p:nvPr>
            <p:ph type="dt" sz="half" idx="10"/>
          </p:nvPr>
        </p:nvSpPr>
        <p:spPr/>
        <p:txBody>
          <a:bodyPr/>
          <a:lstStyle/>
          <a:p>
            <a:fld id="{F438C9EC-7EE7-4A40-8EA6-BFA6DE05E22F}" type="datetimeFigureOut">
              <a:rPr lang="en-US" smtClean="0"/>
              <a:t>10/14/2025</a:t>
            </a:fld>
            <a:endParaRPr lang="en-US"/>
          </a:p>
        </p:txBody>
      </p:sp>
      <p:sp>
        <p:nvSpPr>
          <p:cNvPr id="8" name="Footer Placeholder 7">
            <a:extLst>
              <a:ext uri="{FF2B5EF4-FFF2-40B4-BE49-F238E27FC236}">
                <a16:creationId xmlns:a16="http://schemas.microsoft.com/office/drawing/2014/main" id="{52530C7D-869F-0625-6278-5FDE9C01CC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BB2E5A7-4AFB-CE03-32DA-055AB40FEAAB}"/>
              </a:ext>
            </a:extLst>
          </p:cNvPr>
          <p:cNvSpPr>
            <a:spLocks noGrp="1"/>
          </p:cNvSpPr>
          <p:nvPr>
            <p:ph type="sldNum" sz="quarter" idx="12"/>
          </p:nvPr>
        </p:nvSpPr>
        <p:spPr/>
        <p:txBody>
          <a:bodyPr/>
          <a:lstStyle/>
          <a:p>
            <a:fld id="{39A13427-792A-4F82-8CD8-B8D49C33B6EB}" type="slidenum">
              <a:rPr lang="en-US" smtClean="0"/>
              <a:t>‹#›</a:t>
            </a:fld>
            <a:endParaRPr lang="en-US"/>
          </a:p>
        </p:txBody>
      </p:sp>
    </p:spTree>
    <p:extLst>
      <p:ext uri="{BB962C8B-B14F-4D97-AF65-F5344CB8AC3E}">
        <p14:creationId xmlns:p14="http://schemas.microsoft.com/office/powerpoint/2010/main" val="2302173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1D327-E851-5148-3DA0-78D725AE0E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C6FABD-CEBE-EF1F-301A-B2201C735110}"/>
              </a:ext>
            </a:extLst>
          </p:cNvPr>
          <p:cNvSpPr>
            <a:spLocks noGrp="1"/>
          </p:cNvSpPr>
          <p:nvPr>
            <p:ph type="dt" sz="half" idx="10"/>
          </p:nvPr>
        </p:nvSpPr>
        <p:spPr/>
        <p:txBody>
          <a:bodyPr/>
          <a:lstStyle/>
          <a:p>
            <a:fld id="{F438C9EC-7EE7-4A40-8EA6-BFA6DE05E22F}" type="datetimeFigureOut">
              <a:rPr lang="en-US" smtClean="0"/>
              <a:t>10/14/2025</a:t>
            </a:fld>
            <a:endParaRPr lang="en-US"/>
          </a:p>
        </p:txBody>
      </p:sp>
      <p:sp>
        <p:nvSpPr>
          <p:cNvPr id="4" name="Footer Placeholder 3">
            <a:extLst>
              <a:ext uri="{FF2B5EF4-FFF2-40B4-BE49-F238E27FC236}">
                <a16:creationId xmlns:a16="http://schemas.microsoft.com/office/drawing/2014/main" id="{3B658FDA-9B78-008C-4C2F-CC6D183FB7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059E068-E98B-819F-701C-C37C0686E200}"/>
              </a:ext>
            </a:extLst>
          </p:cNvPr>
          <p:cNvSpPr>
            <a:spLocks noGrp="1"/>
          </p:cNvSpPr>
          <p:nvPr>
            <p:ph type="sldNum" sz="quarter" idx="12"/>
          </p:nvPr>
        </p:nvSpPr>
        <p:spPr/>
        <p:txBody>
          <a:bodyPr/>
          <a:lstStyle/>
          <a:p>
            <a:fld id="{39A13427-792A-4F82-8CD8-B8D49C33B6EB}" type="slidenum">
              <a:rPr lang="en-US" smtClean="0"/>
              <a:t>‹#›</a:t>
            </a:fld>
            <a:endParaRPr lang="en-US"/>
          </a:p>
        </p:txBody>
      </p:sp>
    </p:spTree>
    <p:extLst>
      <p:ext uri="{BB962C8B-B14F-4D97-AF65-F5344CB8AC3E}">
        <p14:creationId xmlns:p14="http://schemas.microsoft.com/office/powerpoint/2010/main" val="1747947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4C2793-8CB6-7C2A-D220-D7E91A66AAD3}"/>
              </a:ext>
            </a:extLst>
          </p:cNvPr>
          <p:cNvSpPr>
            <a:spLocks noGrp="1"/>
          </p:cNvSpPr>
          <p:nvPr>
            <p:ph type="dt" sz="half" idx="10"/>
          </p:nvPr>
        </p:nvSpPr>
        <p:spPr/>
        <p:txBody>
          <a:bodyPr/>
          <a:lstStyle/>
          <a:p>
            <a:fld id="{F438C9EC-7EE7-4A40-8EA6-BFA6DE05E22F}" type="datetimeFigureOut">
              <a:rPr lang="en-US" smtClean="0"/>
              <a:t>10/14/2025</a:t>
            </a:fld>
            <a:endParaRPr lang="en-US"/>
          </a:p>
        </p:txBody>
      </p:sp>
      <p:sp>
        <p:nvSpPr>
          <p:cNvPr id="3" name="Footer Placeholder 2">
            <a:extLst>
              <a:ext uri="{FF2B5EF4-FFF2-40B4-BE49-F238E27FC236}">
                <a16:creationId xmlns:a16="http://schemas.microsoft.com/office/drawing/2014/main" id="{4E21B46F-B0D8-762A-1D4F-83BD4E10A3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8D173D-3757-70A8-2620-23C92C6AEFAB}"/>
              </a:ext>
            </a:extLst>
          </p:cNvPr>
          <p:cNvSpPr>
            <a:spLocks noGrp="1"/>
          </p:cNvSpPr>
          <p:nvPr>
            <p:ph type="sldNum" sz="quarter" idx="12"/>
          </p:nvPr>
        </p:nvSpPr>
        <p:spPr/>
        <p:txBody>
          <a:bodyPr/>
          <a:lstStyle/>
          <a:p>
            <a:fld id="{39A13427-792A-4F82-8CD8-B8D49C33B6EB}" type="slidenum">
              <a:rPr lang="en-US" smtClean="0"/>
              <a:t>‹#›</a:t>
            </a:fld>
            <a:endParaRPr lang="en-US"/>
          </a:p>
        </p:txBody>
      </p:sp>
    </p:spTree>
    <p:extLst>
      <p:ext uri="{BB962C8B-B14F-4D97-AF65-F5344CB8AC3E}">
        <p14:creationId xmlns:p14="http://schemas.microsoft.com/office/powerpoint/2010/main" val="507072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E1F32-8C74-660E-E502-5617D5FBF7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5B66874-0F68-144D-47E0-34802C3371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BC1923-474E-C361-71BC-DCADB627F3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923A4C-94CC-8ED6-8B94-BDB9E69914F1}"/>
              </a:ext>
            </a:extLst>
          </p:cNvPr>
          <p:cNvSpPr>
            <a:spLocks noGrp="1"/>
          </p:cNvSpPr>
          <p:nvPr>
            <p:ph type="dt" sz="half" idx="10"/>
          </p:nvPr>
        </p:nvSpPr>
        <p:spPr/>
        <p:txBody>
          <a:bodyPr/>
          <a:lstStyle/>
          <a:p>
            <a:fld id="{F438C9EC-7EE7-4A40-8EA6-BFA6DE05E22F}" type="datetimeFigureOut">
              <a:rPr lang="en-US" smtClean="0"/>
              <a:t>10/14/2025</a:t>
            </a:fld>
            <a:endParaRPr lang="en-US"/>
          </a:p>
        </p:txBody>
      </p:sp>
      <p:sp>
        <p:nvSpPr>
          <p:cNvPr id="6" name="Footer Placeholder 5">
            <a:extLst>
              <a:ext uri="{FF2B5EF4-FFF2-40B4-BE49-F238E27FC236}">
                <a16:creationId xmlns:a16="http://schemas.microsoft.com/office/drawing/2014/main" id="{C987DC59-887B-0FDE-DAFB-B6F84FF0F5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5E25A6-5B5D-F319-6F73-3A831EDE8EF0}"/>
              </a:ext>
            </a:extLst>
          </p:cNvPr>
          <p:cNvSpPr>
            <a:spLocks noGrp="1"/>
          </p:cNvSpPr>
          <p:nvPr>
            <p:ph type="sldNum" sz="quarter" idx="12"/>
          </p:nvPr>
        </p:nvSpPr>
        <p:spPr/>
        <p:txBody>
          <a:bodyPr/>
          <a:lstStyle/>
          <a:p>
            <a:fld id="{39A13427-792A-4F82-8CD8-B8D49C33B6EB}" type="slidenum">
              <a:rPr lang="en-US" smtClean="0"/>
              <a:t>‹#›</a:t>
            </a:fld>
            <a:endParaRPr lang="en-US"/>
          </a:p>
        </p:txBody>
      </p:sp>
    </p:spTree>
    <p:extLst>
      <p:ext uri="{BB962C8B-B14F-4D97-AF65-F5344CB8AC3E}">
        <p14:creationId xmlns:p14="http://schemas.microsoft.com/office/powerpoint/2010/main" val="1931624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64699-045B-0136-A32E-8F4BEB2120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E8D47EB-7636-4271-5426-C5663CAE4E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602112F-AFC1-C5BC-ACAF-86440B49D8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914384-DD9B-6CC4-7BE8-0DD00191876A}"/>
              </a:ext>
            </a:extLst>
          </p:cNvPr>
          <p:cNvSpPr>
            <a:spLocks noGrp="1"/>
          </p:cNvSpPr>
          <p:nvPr>
            <p:ph type="dt" sz="half" idx="10"/>
          </p:nvPr>
        </p:nvSpPr>
        <p:spPr/>
        <p:txBody>
          <a:bodyPr/>
          <a:lstStyle/>
          <a:p>
            <a:fld id="{F438C9EC-7EE7-4A40-8EA6-BFA6DE05E22F}" type="datetimeFigureOut">
              <a:rPr lang="en-US" smtClean="0"/>
              <a:t>10/14/2025</a:t>
            </a:fld>
            <a:endParaRPr lang="en-US"/>
          </a:p>
        </p:txBody>
      </p:sp>
      <p:sp>
        <p:nvSpPr>
          <p:cNvPr id="6" name="Footer Placeholder 5">
            <a:extLst>
              <a:ext uri="{FF2B5EF4-FFF2-40B4-BE49-F238E27FC236}">
                <a16:creationId xmlns:a16="http://schemas.microsoft.com/office/drawing/2014/main" id="{0AB6F71A-7030-60F9-7EAE-5ED534DEE9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25C43F-B4D3-5C17-B96E-E2F6DB78D172}"/>
              </a:ext>
            </a:extLst>
          </p:cNvPr>
          <p:cNvSpPr>
            <a:spLocks noGrp="1"/>
          </p:cNvSpPr>
          <p:nvPr>
            <p:ph type="sldNum" sz="quarter" idx="12"/>
          </p:nvPr>
        </p:nvSpPr>
        <p:spPr/>
        <p:txBody>
          <a:bodyPr/>
          <a:lstStyle/>
          <a:p>
            <a:fld id="{39A13427-792A-4F82-8CD8-B8D49C33B6EB}" type="slidenum">
              <a:rPr lang="en-US" smtClean="0"/>
              <a:t>‹#›</a:t>
            </a:fld>
            <a:endParaRPr lang="en-US"/>
          </a:p>
        </p:txBody>
      </p:sp>
    </p:spTree>
    <p:extLst>
      <p:ext uri="{BB962C8B-B14F-4D97-AF65-F5344CB8AC3E}">
        <p14:creationId xmlns:p14="http://schemas.microsoft.com/office/powerpoint/2010/main" val="3518261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EB0CC-B923-18C2-0608-DE31076445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B371CB-47EB-9DEA-E473-17745CAA01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65574B-8ADD-0733-CFB1-B0D662F0BD67}"/>
              </a:ext>
            </a:extLst>
          </p:cNvPr>
          <p:cNvSpPr>
            <a:spLocks noGrp="1"/>
          </p:cNvSpPr>
          <p:nvPr>
            <p:ph type="dt" sz="half" idx="10"/>
          </p:nvPr>
        </p:nvSpPr>
        <p:spPr/>
        <p:txBody>
          <a:bodyPr/>
          <a:lstStyle/>
          <a:p>
            <a:fld id="{F438C9EC-7EE7-4A40-8EA6-BFA6DE05E22F}" type="datetimeFigureOut">
              <a:rPr lang="en-US" smtClean="0"/>
              <a:t>10/14/2025</a:t>
            </a:fld>
            <a:endParaRPr lang="en-US"/>
          </a:p>
        </p:txBody>
      </p:sp>
      <p:sp>
        <p:nvSpPr>
          <p:cNvPr id="5" name="Footer Placeholder 4">
            <a:extLst>
              <a:ext uri="{FF2B5EF4-FFF2-40B4-BE49-F238E27FC236}">
                <a16:creationId xmlns:a16="http://schemas.microsoft.com/office/drawing/2014/main" id="{FD38E098-6475-A3E5-8083-EEFD9F2DC6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4C0874-218B-056E-8E8E-60DA86921968}"/>
              </a:ext>
            </a:extLst>
          </p:cNvPr>
          <p:cNvSpPr>
            <a:spLocks noGrp="1"/>
          </p:cNvSpPr>
          <p:nvPr>
            <p:ph type="sldNum" sz="quarter" idx="12"/>
          </p:nvPr>
        </p:nvSpPr>
        <p:spPr/>
        <p:txBody>
          <a:bodyPr/>
          <a:lstStyle/>
          <a:p>
            <a:fld id="{39A13427-792A-4F82-8CD8-B8D49C33B6EB}" type="slidenum">
              <a:rPr lang="en-US" smtClean="0"/>
              <a:t>‹#›</a:t>
            </a:fld>
            <a:endParaRPr lang="en-US"/>
          </a:p>
        </p:txBody>
      </p:sp>
    </p:spTree>
    <p:extLst>
      <p:ext uri="{BB962C8B-B14F-4D97-AF65-F5344CB8AC3E}">
        <p14:creationId xmlns:p14="http://schemas.microsoft.com/office/powerpoint/2010/main" val="2110273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BD8BAE-A55D-E8A7-4BE8-8121D03C7FC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53BB2A-A712-9A15-233A-9461608853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EB36C4-2037-3D07-A2E2-5BCBAAB66670}"/>
              </a:ext>
            </a:extLst>
          </p:cNvPr>
          <p:cNvSpPr>
            <a:spLocks noGrp="1"/>
          </p:cNvSpPr>
          <p:nvPr>
            <p:ph type="dt" sz="half" idx="10"/>
          </p:nvPr>
        </p:nvSpPr>
        <p:spPr/>
        <p:txBody>
          <a:bodyPr/>
          <a:lstStyle/>
          <a:p>
            <a:fld id="{F438C9EC-7EE7-4A40-8EA6-BFA6DE05E22F}" type="datetimeFigureOut">
              <a:rPr lang="en-US" smtClean="0"/>
              <a:t>10/14/2025</a:t>
            </a:fld>
            <a:endParaRPr lang="en-US"/>
          </a:p>
        </p:txBody>
      </p:sp>
      <p:sp>
        <p:nvSpPr>
          <p:cNvPr id="5" name="Footer Placeholder 4">
            <a:extLst>
              <a:ext uri="{FF2B5EF4-FFF2-40B4-BE49-F238E27FC236}">
                <a16:creationId xmlns:a16="http://schemas.microsoft.com/office/drawing/2014/main" id="{8DC9E4CC-F8E4-1038-B36C-EC08B47DF7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479DC8-6135-73BD-3F92-E296A71ABE64}"/>
              </a:ext>
            </a:extLst>
          </p:cNvPr>
          <p:cNvSpPr>
            <a:spLocks noGrp="1"/>
          </p:cNvSpPr>
          <p:nvPr>
            <p:ph type="sldNum" sz="quarter" idx="12"/>
          </p:nvPr>
        </p:nvSpPr>
        <p:spPr/>
        <p:txBody>
          <a:bodyPr/>
          <a:lstStyle/>
          <a:p>
            <a:fld id="{39A13427-792A-4F82-8CD8-B8D49C33B6EB}" type="slidenum">
              <a:rPr lang="en-US" smtClean="0"/>
              <a:t>‹#›</a:t>
            </a:fld>
            <a:endParaRPr lang="en-US"/>
          </a:p>
        </p:txBody>
      </p:sp>
    </p:spTree>
    <p:extLst>
      <p:ext uri="{BB962C8B-B14F-4D97-AF65-F5344CB8AC3E}">
        <p14:creationId xmlns:p14="http://schemas.microsoft.com/office/powerpoint/2010/main" val="2046628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C9E5F5-2C56-623A-6F8E-26D7D9F878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C0E3B3-0234-9D47-E28C-954A397E1F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738904-E961-0D56-4747-0F7F19760C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38C9EC-7EE7-4A40-8EA6-BFA6DE05E22F}" type="datetimeFigureOut">
              <a:rPr lang="en-US" smtClean="0"/>
              <a:t>10/14/2025</a:t>
            </a:fld>
            <a:endParaRPr lang="en-US"/>
          </a:p>
        </p:txBody>
      </p:sp>
      <p:sp>
        <p:nvSpPr>
          <p:cNvPr id="5" name="Footer Placeholder 4">
            <a:extLst>
              <a:ext uri="{FF2B5EF4-FFF2-40B4-BE49-F238E27FC236}">
                <a16:creationId xmlns:a16="http://schemas.microsoft.com/office/drawing/2014/main" id="{9079F836-C4F0-C90B-0948-B49DFB9F33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F15273-995A-83EC-2C71-5D84EE93A7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A13427-792A-4F82-8CD8-B8D49C33B6EB}" type="slidenum">
              <a:rPr lang="en-US" smtClean="0"/>
              <a:t>‹#›</a:t>
            </a:fld>
            <a:endParaRPr lang="en-US"/>
          </a:p>
        </p:txBody>
      </p:sp>
    </p:spTree>
    <p:extLst>
      <p:ext uri="{BB962C8B-B14F-4D97-AF65-F5344CB8AC3E}">
        <p14:creationId xmlns:p14="http://schemas.microsoft.com/office/powerpoint/2010/main" val="2929462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jpeg"/><Relationship Id="rId7" Type="http://schemas.openxmlformats.org/officeDocument/2006/relationships/diagramColors" Target="../diagrams/colors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0AE394F-AFF1-4485-AF1F-7387A2F04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ideo 4" descr="Majestic Waterfall">
            <a:extLst>
              <a:ext uri="{FF2B5EF4-FFF2-40B4-BE49-F238E27FC236}">
                <a16:creationId xmlns:a16="http://schemas.microsoft.com/office/drawing/2014/main" id="{085AD70E-FF73-D7D8-9179-F84A6EB75332}"/>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1" b="285"/>
          <a:stretch>
            <a:fillRect/>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5683D043-25BB-4AC9-8130-641179672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3323345"/>
          </a:xfrm>
          <a:prstGeom prst="rect">
            <a:avLst/>
          </a:prstGeom>
          <a:gradFill flip="none" rotWithShape="1">
            <a:gsLst>
              <a:gs pos="57000">
                <a:srgbClr val="000000">
                  <a:alpha val="30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A24E7B-6C18-635E-5ED9-3AC4E3B5BA14}"/>
              </a:ext>
            </a:extLst>
          </p:cNvPr>
          <p:cNvSpPr>
            <a:spLocks noGrp="1"/>
          </p:cNvSpPr>
          <p:nvPr>
            <p:ph type="ctrTitle"/>
          </p:nvPr>
        </p:nvSpPr>
        <p:spPr>
          <a:xfrm>
            <a:off x="321733" y="554845"/>
            <a:ext cx="10656891" cy="3902673"/>
          </a:xfrm>
        </p:spPr>
        <p:txBody>
          <a:bodyPr anchor="t">
            <a:normAutofit/>
          </a:bodyPr>
          <a:lstStyle/>
          <a:p>
            <a:pPr algn="l"/>
            <a:r>
              <a:rPr lang="en-US" sz="5200">
                <a:solidFill>
                  <a:srgbClr val="FFFFFF"/>
                </a:solidFill>
              </a:rPr>
              <a:t>Agile Versus Waterfall</a:t>
            </a:r>
          </a:p>
        </p:txBody>
      </p:sp>
      <p:sp>
        <p:nvSpPr>
          <p:cNvPr id="13" name="Rectangle 12">
            <a:extLst>
              <a:ext uri="{FF2B5EF4-FFF2-40B4-BE49-F238E27FC236}">
                <a16:creationId xmlns:a16="http://schemas.microsoft.com/office/drawing/2014/main" id="{AA61CCAC-6875-474C-8E9E-F57ABF078C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47" y="4704862"/>
            <a:ext cx="12191999" cy="2155484"/>
          </a:xfrm>
          <a:prstGeom prst="rect">
            <a:avLst/>
          </a:prstGeom>
          <a:gradFill flip="none" rotWithShape="1">
            <a:gsLst>
              <a:gs pos="59000">
                <a:srgbClr val="000000">
                  <a:alpha val="30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BCCCEC7F-7EF0-9DD7-450E-0476B023C9CC}"/>
              </a:ext>
            </a:extLst>
          </p:cNvPr>
          <p:cNvSpPr>
            <a:spLocks noGrp="1"/>
          </p:cNvSpPr>
          <p:nvPr>
            <p:ph type="subTitle" idx="1"/>
          </p:nvPr>
        </p:nvSpPr>
        <p:spPr>
          <a:xfrm>
            <a:off x="315523" y="4718033"/>
            <a:ext cx="10678296" cy="1175039"/>
          </a:xfrm>
        </p:spPr>
        <p:txBody>
          <a:bodyPr anchor="b">
            <a:normAutofit/>
          </a:bodyPr>
          <a:lstStyle/>
          <a:p>
            <a:pPr algn="l"/>
            <a:r>
              <a:rPr lang="en-US">
                <a:solidFill>
                  <a:srgbClr val="FFFFFF"/>
                </a:solidFill>
              </a:rPr>
              <a:t>James Piggot</a:t>
            </a:r>
            <a:br>
              <a:rPr lang="en-US">
                <a:solidFill>
                  <a:srgbClr val="FFFFFF"/>
                </a:solidFill>
              </a:rPr>
            </a:br>
            <a:r>
              <a:rPr lang="en-US">
                <a:solidFill>
                  <a:srgbClr val="FFFFFF"/>
                </a:solidFill>
              </a:rPr>
              <a:t>10/14/2025</a:t>
            </a:r>
          </a:p>
          <a:p>
            <a:pPr algn="l"/>
            <a:endParaRPr lang="en-US">
              <a:solidFill>
                <a:srgbClr val="FFFFFF"/>
              </a:solidFill>
            </a:endParaRPr>
          </a:p>
        </p:txBody>
      </p:sp>
    </p:spTree>
    <p:extLst>
      <p:ext uri="{BB962C8B-B14F-4D97-AF65-F5344CB8AC3E}">
        <p14:creationId xmlns:p14="http://schemas.microsoft.com/office/powerpoint/2010/main" val="4125939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84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7BBE2A9B-EFC5-509D-3D34-D51566130CC5}"/>
              </a:ext>
            </a:extLst>
          </p:cNvPr>
          <p:cNvPicPr>
            <a:picLocks noChangeAspect="1"/>
          </p:cNvPicPr>
          <p:nvPr/>
        </p:nvPicPr>
        <p:blipFill>
          <a:blip r:embed="rId3">
            <a:duotone>
              <a:schemeClr val="bg2">
                <a:shade val="45000"/>
                <a:satMod val="135000"/>
              </a:schemeClr>
              <a:prstClr val="white"/>
            </a:duotone>
          </a:blip>
          <a:srcRect t="11931" b="3800"/>
          <a:stretch>
            <a:fillRect/>
          </a:stretch>
        </p:blipFill>
        <p:spPr>
          <a:xfrm>
            <a:off x="20" y="10"/>
            <a:ext cx="12191980" cy="6857990"/>
          </a:xfrm>
          <a:prstGeom prst="rect">
            <a:avLst/>
          </a:prstGeom>
        </p:spPr>
      </p:pic>
      <p:sp>
        <p:nvSpPr>
          <p:cNvPr id="39" name="Rectangle 38">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4D28D9-3935-6A61-E0F6-8728253AE852}"/>
              </a:ext>
            </a:extLst>
          </p:cNvPr>
          <p:cNvSpPr>
            <a:spLocks noGrp="1"/>
          </p:cNvSpPr>
          <p:nvPr>
            <p:ph type="title"/>
          </p:nvPr>
        </p:nvSpPr>
        <p:spPr>
          <a:xfrm>
            <a:off x="838200" y="365125"/>
            <a:ext cx="10515600" cy="1325563"/>
          </a:xfrm>
        </p:spPr>
        <p:txBody>
          <a:bodyPr>
            <a:normAutofit/>
          </a:bodyPr>
          <a:lstStyle/>
          <a:p>
            <a:r>
              <a:rPr lang="en-US"/>
              <a:t>Agile roles</a:t>
            </a:r>
          </a:p>
        </p:txBody>
      </p:sp>
      <p:graphicFrame>
        <p:nvGraphicFramePr>
          <p:cNvPr id="34" name="Content Placeholder 2">
            <a:extLst>
              <a:ext uri="{FF2B5EF4-FFF2-40B4-BE49-F238E27FC236}">
                <a16:creationId xmlns:a16="http://schemas.microsoft.com/office/drawing/2014/main" id="{7E60EDEF-19F8-64D3-CB2F-B1D7D14496DE}"/>
              </a:ext>
            </a:extLst>
          </p:cNvPr>
          <p:cNvGraphicFramePr>
            <a:graphicFrameLocks noGrp="1"/>
          </p:cNvGraphicFramePr>
          <p:nvPr>
            <p:ph idx="1"/>
            <p:extLst>
              <p:ext uri="{D42A27DB-BD31-4B8C-83A1-F6EECF244321}">
                <p14:modId xmlns:p14="http://schemas.microsoft.com/office/powerpoint/2010/main" val="283062464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969420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458E1F-EE94-6966-52BA-4DBEF27F4E7E}"/>
            </a:ext>
          </a:extLst>
        </p:cNvPr>
        <p:cNvGrpSpPr/>
        <p:nvPr/>
      </p:nvGrpSpPr>
      <p:grpSpPr>
        <a:xfrm>
          <a:off x="0" y="0"/>
          <a:ext cx="0" cy="0"/>
          <a:chOff x="0" y="0"/>
          <a:chExt cx="0" cy="0"/>
        </a:xfrm>
      </p:grpSpPr>
      <p:pic>
        <p:nvPicPr>
          <p:cNvPr id="35" name="Picture 34">
            <a:extLst>
              <a:ext uri="{FF2B5EF4-FFF2-40B4-BE49-F238E27FC236}">
                <a16:creationId xmlns:a16="http://schemas.microsoft.com/office/drawing/2014/main" id="{21DFA212-98DB-D320-DB38-A9C10E12E83C}"/>
              </a:ext>
            </a:extLst>
          </p:cNvPr>
          <p:cNvPicPr>
            <a:picLocks noChangeAspect="1"/>
          </p:cNvPicPr>
          <p:nvPr/>
        </p:nvPicPr>
        <p:blipFill>
          <a:blip r:embed="rId3">
            <a:duotone>
              <a:schemeClr val="bg2">
                <a:shade val="45000"/>
                <a:satMod val="135000"/>
              </a:schemeClr>
              <a:prstClr val="white"/>
            </a:duotone>
          </a:blip>
          <a:srcRect t="11931" b="3800"/>
          <a:stretch>
            <a:fillRect/>
          </a:stretch>
        </p:blipFill>
        <p:spPr>
          <a:xfrm>
            <a:off x="20" y="10"/>
            <a:ext cx="12191980" cy="6857990"/>
          </a:xfrm>
          <a:prstGeom prst="rect">
            <a:avLst/>
          </a:prstGeom>
        </p:spPr>
      </p:pic>
      <p:sp>
        <p:nvSpPr>
          <p:cNvPr id="39" name="Rectangle 38">
            <a:extLst>
              <a:ext uri="{FF2B5EF4-FFF2-40B4-BE49-F238E27FC236}">
                <a16:creationId xmlns:a16="http://schemas.microsoft.com/office/drawing/2014/main" id="{84555D02-378C-710D-35E4-91BBC32DBA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F03125-3A44-BEA2-74D7-AEE6139167D1}"/>
              </a:ext>
            </a:extLst>
          </p:cNvPr>
          <p:cNvSpPr>
            <a:spLocks noGrp="1"/>
          </p:cNvSpPr>
          <p:nvPr>
            <p:ph type="title"/>
          </p:nvPr>
        </p:nvSpPr>
        <p:spPr>
          <a:xfrm>
            <a:off x="838200" y="365125"/>
            <a:ext cx="10515600" cy="1325563"/>
          </a:xfrm>
        </p:spPr>
        <p:txBody>
          <a:bodyPr>
            <a:normAutofit/>
          </a:bodyPr>
          <a:lstStyle/>
          <a:p>
            <a:r>
              <a:rPr lang="en-US" dirty="0"/>
              <a:t>Agile roles continued</a:t>
            </a:r>
          </a:p>
        </p:txBody>
      </p:sp>
      <p:graphicFrame>
        <p:nvGraphicFramePr>
          <p:cNvPr id="34" name="Content Placeholder 2">
            <a:extLst>
              <a:ext uri="{FF2B5EF4-FFF2-40B4-BE49-F238E27FC236}">
                <a16:creationId xmlns:a16="http://schemas.microsoft.com/office/drawing/2014/main" id="{6A9AF434-2ECB-EF44-82A4-372D06EE59EC}"/>
              </a:ext>
            </a:extLst>
          </p:cNvPr>
          <p:cNvGraphicFramePr>
            <a:graphicFrameLocks noGrp="1"/>
          </p:cNvGraphicFramePr>
          <p:nvPr>
            <p:ph idx="1"/>
            <p:extLst>
              <p:ext uri="{D42A27DB-BD31-4B8C-83A1-F6EECF244321}">
                <p14:modId xmlns:p14="http://schemas.microsoft.com/office/powerpoint/2010/main" val="68845893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0692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A84082-2ED6-8118-9B34-BA55AD6EFA52}"/>
              </a:ext>
            </a:extLst>
          </p:cNvPr>
          <p:cNvSpPr>
            <a:spLocks noGrp="1"/>
          </p:cNvSpPr>
          <p:nvPr>
            <p:ph type="title"/>
          </p:nvPr>
        </p:nvSpPr>
        <p:spPr>
          <a:xfrm>
            <a:off x="4553733" y="548464"/>
            <a:ext cx="6798541" cy="1675623"/>
          </a:xfrm>
        </p:spPr>
        <p:txBody>
          <a:bodyPr anchor="b">
            <a:normAutofit/>
          </a:bodyPr>
          <a:lstStyle/>
          <a:p>
            <a:r>
              <a:rPr lang="en-US" sz="4000"/>
              <a:t>Agile Phases</a:t>
            </a:r>
          </a:p>
        </p:txBody>
      </p:sp>
      <p:pic>
        <p:nvPicPr>
          <p:cNvPr id="22" name="Picture 21" descr="Top view of cubes connected with black lines">
            <a:extLst>
              <a:ext uri="{FF2B5EF4-FFF2-40B4-BE49-F238E27FC236}">
                <a16:creationId xmlns:a16="http://schemas.microsoft.com/office/drawing/2014/main" id="{B2D3CC7F-F1A9-6B40-EB4B-C982419DC4F0}"/>
              </a:ext>
            </a:extLst>
          </p:cNvPr>
          <p:cNvPicPr>
            <a:picLocks noChangeAspect="1"/>
          </p:cNvPicPr>
          <p:nvPr/>
        </p:nvPicPr>
        <p:blipFill>
          <a:blip r:embed="rId2"/>
          <a:srcRect l="32014" r="22092"/>
          <a:stretch>
            <a:fillRect/>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816D80C3-38FD-3B4B-051C-A11662C083DF}"/>
              </a:ext>
            </a:extLst>
          </p:cNvPr>
          <p:cNvSpPr>
            <a:spLocks noGrp="1"/>
          </p:cNvSpPr>
          <p:nvPr>
            <p:ph idx="1"/>
          </p:nvPr>
        </p:nvSpPr>
        <p:spPr>
          <a:xfrm>
            <a:off x="4553734" y="2409830"/>
            <a:ext cx="6798539" cy="3705217"/>
          </a:xfrm>
        </p:spPr>
        <p:txBody>
          <a:bodyPr>
            <a:normAutofit lnSpcReduction="10000"/>
          </a:bodyPr>
          <a:lstStyle/>
          <a:p>
            <a:r>
              <a:rPr lang="en-US" sz="2000" dirty="0"/>
              <a:t>The Agile SDLC consists of time-boxed cycles called sprints. (Cobb, 2023)</a:t>
            </a:r>
          </a:p>
          <a:p>
            <a:pPr lvl="1"/>
            <a:r>
              <a:rPr lang="en-US" sz="2000" dirty="0"/>
              <a:t>Concept/Inception: Establishing a vision then establishing the initial backlog of said product/vision (Cobb, 2023).</a:t>
            </a:r>
          </a:p>
          <a:p>
            <a:pPr lvl="1"/>
            <a:r>
              <a:rPr lang="en-US" sz="2000" dirty="0"/>
              <a:t>Iteration/construction (The sprint): The core work cycle of the agile phases, planning, daily scrum, development/testing review, retrospective, repeat in a small short frame to allow for repetitive testing in short frame to discover problems earlier (Cobb, 2023).</a:t>
            </a:r>
          </a:p>
          <a:p>
            <a:pPr lvl="1"/>
            <a:r>
              <a:rPr lang="en-US" sz="2000" dirty="0"/>
              <a:t>Release/Transition: Deploying testing working increments to users to deliver value earlier (Cobb, 2023).</a:t>
            </a:r>
          </a:p>
        </p:txBody>
      </p:sp>
    </p:spTree>
    <p:extLst>
      <p:ext uri="{BB962C8B-B14F-4D97-AF65-F5344CB8AC3E}">
        <p14:creationId xmlns:p14="http://schemas.microsoft.com/office/powerpoint/2010/main" val="2942971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ACA9D3-B141-25E4-960E-771E69282C49}"/>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CA0A880C-E677-A326-C011-69FA4EBE7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E7296A-11BE-9F3B-0682-636CAFB47B5E}"/>
              </a:ext>
            </a:extLst>
          </p:cNvPr>
          <p:cNvSpPr>
            <a:spLocks noGrp="1"/>
          </p:cNvSpPr>
          <p:nvPr>
            <p:ph type="title"/>
          </p:nvPr>
        </p:nvSpPr>
        <p:spPr>
          <a:xfrm>
            <a:off x="4553733" y="548464"/>
            <a:ext cx="6798541" cy="1675623"/>
          </a:xfrm>
        </p:spPr>
        <p:txBody>
          <a:bodyPr anchor="b">
            <a:normAutofit/>
          </a:bodyPr>
          <a:lstStyle/>
          <a:p>
            <a:r>
              <a:rPr lang="en-US" sz="4000" dirty="0"/>
              <a:t>Agile Phases in-depth</a:t>
            </a:r>
          </a:p>
        </p:txBody>
      </p:sp>
      <p:pic>
        <p:nvPicPr>
          <p:cNvPr id="22" name="Picture 21" descr="Top view of cubes connected with black lines">
            <a:extLst>
              <a:ext uri="{FF2B5EF4-FFF2-40B4-BE49-F238E27FC236}">
                <a16:creationId xmlns:a16="http://schemas.microsoft.com/office/drawing/2014/main" id="{3C699214-B88F-9E12-FCFD-5E86BD23E70A}"/>
              </a:ext>
            </a:extLst>
          </p:cNvPr>
          <p:cNvPicPr>
            <a:picLocks noChangeAspect="1"/>
          </p:cNvPicPr>
          <p:nvPr/>
        </p:nvPicPr>
        <p:blipFill>
          <a:blip r:embed="rId2"/>
          <a:srcRect l="32014" r="22092"/>
          <a:stretch>
            <a:fillRect/>
          </a:stretch>
        </p:blipFill>
        <p:spPr>
          <a:xfrm>
            <a:off x="1" y="10"/>
            <a:ext cx="4196496" cy="6857990"/>
          </a:xfrm>
          <a:prstGeom prst="rect">
            <a:avLst/>
          </a:prstGeom>
          <a:effectLst/>
        </p:spPr>
      </p:pic>
      <p:sp>
        <p:nvSpPr>
          <p:cNvPr id="3" name="Content Placeholder 2">
            <a:extLst>
              <a:ext uri="{FF2B5EF4-FFF2-40B4-BE49-F238E27FC236}">
                <a16:creationId xmlns:a16="http://schemas.microsoft.com/office/drawing/2014/main" id="{5110BA1F-1040-8F0C-3078-E448C258B060}"/>
              </a:ext>
            </a:extLst>
          </p:cNvPr>
          <p:cNvSpPr>
            <a:spLocks noGrp="1"/>
          </p:cNvSpPr>
          <p:nvPr>
            <p:ph idx="1"/>
          </p:nvPr>
        </p:nvSpPr>
        <p:spPr>
          <a:xfrm>
            <a:off x="4553734" y="2409830"/>
            <a:ext cx="6798539" cy="3705217"/>
          </a:xfrm>
        </p:spPr>
        <p:txBody>
          <a:bodyPr>
            <a:normAutofit/>
          </a:bodyPr>
          <a:lstStyle/>
          <a:p>
            <a:r>
              <a:rPr lang="en-US" sz="2000" dirty="0"/>
              <a:t>Scrum Sprint Cycle</a:t>
            </a:r>
          </a:p>
          <a:p>
            <a:pPr lvl="1"/>
            <a:r>
              <a:rPr lang="en-US" sz="1600" dirty="0"/>
              <a:t>Sprint Planning: What will be developed, how will it be built, and establishing the sprint goal (Cobb, 2023)</a:t>
            </a:r>
          </a:p>
          <a:p>
            <a:pPr lvl="1"/>
            <a:r>
              <a:rPr lang="en-US" sz="1600" dirty="0"/>
              <a:t>The daily scrum: Time-boxes meeting on what should be a daily pattern with focused questions such as, what did I do today, what did I do yesterday and what are my impediment from the development team (Cobb, 2023).</a:t>
            </a:r>
          </a:p>
          <a:p>
            <a:pPr lvl="1"/>
            <a:r>
              <a:rPr lang="en-US" sz="1600" dirty="0"/>
              <a:t>Sprint review: Show the working product increment to the stakeholders and focus on the product backlog for what’s next and allow the stakeholders feedback to immediately influence the future plans (Cobb, 2023).</a:t>
            </a:r>
          </a:p>
          <a:p>
            <a:pPr lvl="1"/>
            <a:r>
              <a:rPr lang="en-US" sz="1600" dirty="0"/>
              <a:t>Sprint Retrospective: What went all during these steps? What could have been done better? Discuss relationships, process and tools. (Cobb, 2023).</a:t>
            </a:r>
          </a:p>
          <a:p>
            <a:pPr marL="457200" lvl="1" indent="0">
              <a:buNone/>
            </a:pPr>
            <a:endParaRPr lang="en-US" sz="1600" dirty="0"/>
          </a:p>
        </p:txBody>
      </p:sp>
    </p:spTree>
    <p:extLst>
      <p:ext uri="{BB962C8B-B14F-4D97-AF65-F5344CB8AC3E}">
        <p14:creationId xmlns:p14="http://schemas.microsoft.com/office/powerpoint/2010/main" val="526782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34524F-A5CC-2A50-3794-244B8EC402B9}"/>
              </a:ext>
            </a:extLst>
          </p:cNvPr>
          <p:cNvSpPr>
            <a:spLocks noGrp="1"/>
          </p:cNvSpPr>
          <p:nvPr>
            <p:ph type="title"/>
          </p:nvPr>
        </p:nvSpPr>
        <p:spPr>
          <a:xfrm>
            <a:off x="761803" y="350196"/>
            <a:ext cx="4646904" cy="1624520"/>
          </a:xfrm>
        </p:spPr>
        <p:txBody>
          <a:bodyPr anchor="ctr">
            <a:normAutofit/>
          </a:bodyPr>
          <a:lstStyle/>
          <a:p>
            <a:r>
              <a:rPr lang="en-US" sz="4000"/>
              <a:t>Waterfall Model</a:t>
            </a:r>
          </a:p>
        </p:txBody>
      </p:sp>
      <p:sp>
        <p:nvSpPr>
          <p:cNvPr id="3" name="Content Placeholder 2">
            <a:extLst>
              <a:ext uri="{FF2B5EF4-FFF2-40B4-BE49-F238E27FC236}">
                <a16:creationId xmlns:a16="http://schemas.microsoft.com/office/drawing/2014/main" id="{8E8F3F16-1471-B36B-451C-8254DE74969C}"/>
              </a:ext>
            </a:extLst>
          </p:cNvPr>
          <p:cNvSpPr>
            <a:spLocks noGrp="1"/>
          </p:cNvSpPr>
          <p:nvPr>
            <p:ph idx="1"/>
          </p:nvPr>
        </p:nvSpPr>
        <p:spPr>
          <a:xfrm>
            <a:off x="761802" y="2743200"/>
            <a:ext cx="4646905" cy="3613149"/>
          </a:xfrm>
        </p:spPr>
        <p:txBody>
          <a:bodyPr anchor="ctr">
            <a:normAutofit lnSpcReduction="10000"/>
          </a:bodyPr>
          <a:lstStyle/>
          <a:p>
            <a:r>
              <a:rPr lang="en-US" sz="1700" dirty="0"/>
              <a:t>The Waterfall model is a sequential linear approach to completing  and signed off at the end and beginning of each phase (Cobb, 2023). </a:t>
            </a:r>
          </a:p>
          <a:p>
            <a:pPr lvl="1"/>
            <a:r>
              <a:rPr lang="en-US" sz="1700" dirty="0"/>
              <a:t>Agile allows for adaption through the phases while waterfall is planned driven approach and focus on the initial planning in most cases even if things have changed during development (Cobb, 2023).</a:t>
            </a:r>
          </a:p>
          <a:p>
            <a:pPr lvl="1"/>
            <a:r>
              <a:rPr lang="en-US" sz="1700" dirty="0"/>
              <a:t>Issues related to waterfall often occur during testing requiring massive rework and delays as by the time they are identified later in the sprint and are frozen due to the waterfall format of development (Cobb, 2023).</a:t>
            </a:r>
          </a:p>
        </p:txBody>
      </p:sp>
      <p:pic>
        <p:nvPicPr>
          <p:cNvPr id="5" name="Picture 4">
            <a:extLst>
              <a:ext uri="{FF2B5EF4-FFF2-40B4-BE49-F238E27FC236}">
                <a16:creationId xmlns:a16="http://schemas.microsoft.com/office/drawing/2014/main" id="{95272693-9A2B-B2FE-9F18-A82B15A11F4F}"/>
              </a:ext>
            </a:extLst>
          </p:cNvPr>
          <p:cNvPicPr>
            <a:picLocks noChangeAspect="1"/>
          </p:cNvPicPr>
          <p:nvPr/>
        </p:nvPicPr>
        <p:blipFill>
          <a:blip r:embed="rId2"/>
          <a:srcRect l="18931" r="30790" b="-445"/>
          <a:stretch>
            <a:fillRect/>
          </a:stretch>
        </p:blipFill>
        <p:spPr>
          <a:xfrm>
            <a:off x="6096000" y="1"/>
            <a:ext cx="6102825" cy="6858000"/>
          </a:xfrm>
          <a:prstGeom prst="rect">
            <a:avLst/>
          </a:prstGeom>
        </p:spPr>
      </p:pic>
    </p:spTree>
    <p:extLst>
      <p:ext uri="{BB962C8B-B14F-4D97-AF65-F5344CB8AC3E}">
        <p14:creationId xmlns:p14="http://schemas.microsoft.com/office/powerpoint/2010/main" val="2751500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5F6683-7863-EDDC-24FC-C83627AB059D}"/>
              </a:ext>
            </a:extLst>
          </p:cNvPr>
          <p:cNvSpPr>
            <a:spLocks noGrp="1"/>
          </p:cNvSpPr>
          <p:nvPr>
            <p:ph type="title"/>
          </p:nvPr>
        </p:nvSpPr>
        <p:spPr>
          <a:xfrm>
            <a:off x="761803" y="350196"/>
            <a:ext cx="4646904" cy="1624520"/>
          </a:xfrm>
        </p:spPr>
        <p:txBody>
          <a:bodyPr anchor="ctr">
            <a:normAutofit/>
          </a:bodyPr>
          <a:lstStyle/>
          <a:p>
            <a:r>
              <a:rPr lang="en-US" sz="4000" dirty="0"/>
              <a:t>Waterfall versus Agile</a:t>
            </a:r>
          </a:p>
        </p:txBody>
      </p:sp>
      <p:sp>
        <p:nvSpPr>
          <p:cNvPr id="3" name="Content Placeholder 2">
            <a:extLst>
              <a:ext uri="{FF2B5EF4-FFF2-40B4-BE49-F238E27FC236}">
                <a16:creationId xmlns:a16="http://schemas.microsoft.com/office/drawing/2014/main" id="{E30D6239-EDB8-44A0-7BDE-F02D9F944F09}"/>
              </a:ext>
            </a:extLst>
          </p:cNvPr>
          <p:cNvSpPr>
            <a:spLocks noGrp="1"/>
          </p:cNvSpPr>
          <p:nvPr>
            <p:ph idx="1"/>
          </p:nvPr>
        </p:nvSpPr>
        <p:spPr>
          <a:xfrm>
            <a:off x="761802" y="2743200"/>
            <a:ext cx="4646905" cy="3613149"/>
          </a:xfrm>
        </p:spPr>
        <p:txBody>
          <a:bodyPr anchor="ctr">
            <a:normAutofit fontScale="92500"/>
          </a:bodyPr>
          <a:lstStyle/>
          <a:p>
            <a:r>
              <a:rPr lang="en-US" sz="1700" dirty="0"/>
              <a:t>When a project is not evolving, clear and upfront defined with no possible changes the Waterfall Model is a superior choice; however, business is often every evolving making this uncommon (Cobb, 2023).</a:t>
            </a:r>
          </a:p>
          <a:p>
            <a:r>
              <a:rPr lang="en-US" sz="1700" dirty="0"/>
              <a:t>If there will be low engagement from the customer or stakeholders, waterfall is a popular choice however, agile allows for high engagement and constant feedback with less cost if something occurs (</a:t>
            </a:r>
            <a:r>
              <a:rPr lang="en-US" sz="1700" dirty="0" err="1"/>
              <a:t>KnowledgeHut</a:t>
            </a:r>
            <a:r>
              <a:rPr lang="en-US" sz="1700" dirty="0"/>
              <a:t>, 2025)</a:t>
            </a:r>
          </a:p>
          <a:p>
            <a:r>
              <a:rPr lang="en-US" sz="1700" dirty="0"/>
              <a:t>Waterfall is more routine and stable while Agile requires high market volatility and innovation for more benefit. Adaption is critical to make agile succeed. (</a:t>
            </a:r>
            <a:r>
              <a:rPr lang="en-US" sz="1700" dirty="0" err="1"/>
              <a:t>TeamForm</a:t>
            </a:r>
            <a:r>
              <a:rPr lang="en-US" sz="1700" dirty="0"/>
              <a:t>, 2025)</a:t>
            </a:r>
          </a:p>
        </p:txBody>
      </p:sp>
      <p:pic>
        <p:nvPicPr>
          <p:cNvPr id="5" name="Picture 4" descr="Cascade of waterfalls">
            <a:extLst>
              <a:ext uri="{FF2B5EF4-FFF2-40B4-BE49-F238E27FC236}">
                <a16:creationId xmlns:a16="http://schemas.microsoft.com/office/drawing/2014/main" id="{EED67BE7-C9D7-3485-543F-33EE7DA7AB74}"/>
              </a:ext>
            </a:extLst>
          </p:cNvPr>
          <p:cNvPicPr>
            <a:picLocks noChangeAspect="1"/>
          </p:cNvPicPr>
          <p:nvPr/>
        </p:nvPicPr>
        <p:blipFill>
          <a:blip r:embed="rId3"/>
          <a:srcRect l="10322" r="30277" b="-2"/>
          <a:stretch>
            <a:fillRect/>
          </a:stretch>
        </p:blipFill>
        <p:spPr>
          <a:xfrm>
            <a:off x="6096000" y="1"/>
            <a:ext cx="6102825" cy="6858000"/>
          </a:xfrm>
          <a:prstGeom prst="rect">
            <a:avLst/>
          </a:prstGeom>
        </p:spPr>
      </p:pic>
    </p:spTree>
    <p:extLst>
      <p:ext uri="{BB962C8B-B14F-4D97-AF65-F5344CB8AC3E}">
        <p14:creationId xmlns:p14="http://schemas.microsoft.com/office/powerpoint/2010/main" val="1220277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48B6C7-A461-95AD-BD09-9883C2263A4C}"/>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50615254-46D7-AB74-215A-1C65A7E303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F9EC6D99-10D0-3140-0FFF-5278DC37D5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AD79DA-55A1-35A1-7038-F25C7AD45E94}"/>
              </a:ext>
            </a:extLst>
          </p:cNvPr>
          <p:cNvSpPr>
            <a:spLocks noGrp="1"/>
          </p:cNvSpPr>
          <p:nvPr>
            <p:ph type="title"/>
          </p:nvPr>
        </p:nvSpPr>
        <p:spPr>
          <a:xfrm>
            <a:off x="761803" y="350196"/>
            <a:ext cx="4646904" cy="1624520"/>
          </a:xfrm>
        </p:spPr>
        <p:txBody>
          <a:bodyPr anchor="ctr">
            <a:normAutofit/>
          </a:bodyPr>
          <a:lstStyle/>
          <a:p>
            <a:r>
              <a:rPr lang="en-US" sz="4000" dirty="0"/>
              <a:t>Waterfall versus Agile: In Action</a:t>
            </a:r>
          </a:p>
        </p:txBody>
      </p:sp>
      <p:sp>
        <p:nvSpPr>
          <p:cNvPr id="3" name="Content Placeholder 2">
            <a:extLst>
              <a:ext uri="{FF2B5EF4-FFF2-40B4-BE49-F238E27FC236}">
                <a16:creationId xmlns:a16="http://schemas.microsoft.com/office/drawing/2014/main" id="{D50CB943-2C83-AB0E-EB6E-4071EDA65712}"/>
              </a:ext>
            </a:extLst>
          </p:cNvPr>
          <p:cNvSpPr>
            <a:spLocks noGrp="1"/>
          </p:cNvSpPr>
          <p:nvPr>
            <p:ph idx="1"/>
          </p:nvPr>
        </p:nvSpPr>
        <p:spPr>
          <a:xfrm>
            <a:off x="761802" y="2743200"/>
            <a:ext cx="4646905" cy="3613149"/>
          </a:xfrm>
        </p:spPr>
        <p:txBody>
          <a:bodyPr anchor="ctr">
            <a:normAutofit/>
          </a:bodyPr>
          <a:lstStyle/>
          <a:p>
            <a:r>
              <a:rPr lang="en-US" sz="1700" dirty="0"/>
              <a:t>Problem: A competitor has launched a new feature that is retrieved well by customers, our leadership now wants to as a mandatory addition.</a:t>
            </a:r>
          </a:p>
          <a:p>
            <a:pPr lvl="1"/>
            <a:r>
              <a:rPr lang="en-US" sz="1300" dirty="0"/>
              <a:t>Waterfall: This change will be met with resistance, the development process was set at the very beginning of its sprint, it is lengthy, and it is not meant to change during, and it will be costly and require massively overhauls.</a:t>
            </a:r>
          </a:p>
          <a:p>
            <a:pPr lvl="1"/>
            <a:r>
              <a:rPr lang="en-US" sz="1300" dirty="0"/>
              <a:t>Agile: The change will be welcome and instantly prioritized through the produce owner and adapted into the next sprint planning, which will be at a much shorter timeframe than the </a:t>
            </a:r>
            <a:r>
              <a:rPr lang="en-US" sz="1300"/>
              <a:t>waterfall approach (</a:t>
            </a:r>
            <a:r>
              <a:rPr lang="en-US" sz="1300" dirty="0"/>
              <a:t>Asana, 2025).</a:t>
            </a:r>
          </a:p>
        </p:txBody>
      </p:sp>
      <p:pic>
        <p:nvPicPr>
          <p:cNvPr id="5" name="Picture 4" descr="Cascade of waterfalls">
            <a:extLst>
              <a:ext uri="{FF2B5EF4-FFF2-40B4-BE49-F238E27FC236}">
                <a16:creationId xmlns:a16="http://schemas.microsoft.com/office/drawing/2014/main" id="{2F9A5134-CC09-1BE4-38D1-9E00F2931304}"/>
              </a:ext>
            </a:extLst>
          </p:cNvPr>
          <p:cNvPicPr>
            <a:picLocks noChangeAspect="1"/>
          </p:cNvPicPr>
          <p:nvPr/>
        </p:nvPicPr>
        <p:blipFill>
          <a:blip r:embed="rId2"/>
          <a:srcRect l="10322" r="30277" b="-2"/>
          <a:stretch>
            <a:fillRect/>
          </a:stretch>
        </p:blipFill>
        <p:spPr>
          <a:xfrm>
            <a:off x="6096000" y="1"/>
            <a:ext cx="6102825" cy="6858000"/>
          </a:xfrm>
          <a:prstGeom prst="rect">
            <a:avLst/>
          </a:prstGeom>
        </p:spPr>
      </p:pic>
    </p:spTree>
    <p:extLst>
      <p:ext uri="{BB962C8B-B14F-4D97-AF65-F5344CB8AC3E}">
        <p14:creationId xmlns:p14="http://schemas.microsoft.com/office/powerpoint/2010/main" val="2902901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AD14E8-69AC-39E7-045C-E6AA6AE9BF5B}"/>
              </a:ext>
            </a:extLst>
          </p:cNvPr>
          <p:cNvSpPr>
            <a:spLocks noGrp="1"/>
          </p:cNvSpPr>
          <p:nvPr>
            <p:ph type="title"/>
          </p:nvPr>
        </p:nvSpPr>
        <p:spPr>
          <a:xfrm>
            <a:off x="1043631" y="809898"/>
            <a:ext cx="10173010" cy="1554480"/>
          </a:xfrm>
        </p:spPr>
        <p:txBody>
          <a:bodyPr anchor="ctr">
            <a:normAutofit/>
          </a:bodyPr>
          <a:lstStyle/>
          <a:p>
            <a:r>
              <a:rPr lang="en-US" sz="4800"/>
              <a:t>References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016FB2B4-8755-F9EE-E5EA-0DF2853494A7}"/>
              </a:ext>
            </a:extLst>
          </p:cNvPr>
          <p:cNvGraphicFramePr>
            <a:graphicFrameLocks noGrp="1"/>
          </p:cNvGraphicFramePr>
          <p:nvPr>
            <p:ph idx="1"/>
            <p:extLst>
              <p:ext uri="{D42A27DB-BD31-4B8C-83A1-F6EECF244321}">
                <p14:modId xmlns:p14="http://schemas.microsoft.com/office/powerpoint/2010/main" val="1852109085"/>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03799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889</Words>
  <Application>Microsoft Office PowerPoint</Application>
  <PresentationFormat>Widescreen</PresentationFormat>
  <Paragraphs>44</Paragraphs>
  <Slides>9</Slides>
  <Notes>3</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Agile Versus Waterfall</vt:lpstr>
      <vt:lpstr>Agile roles</vt:lpstr>
      <vt:lpstr>Agile roles continued</vt:lpstr>
      <vt:lpstr>Agile Phases</vt:lpstr>
      <vt:lpstr>Agile Phases in-depth</vt:lpstr>
      <vt:lpstr>Waterfall Model</vt:lpstr>
      <vt:lpstr>Waterfall versus Agile</vt:lpstr>
      <vt:lpstr>Waterfall versus Agile: In Action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 P</dc:creator>
  <cp:lastModifiedBy>J P</cp:lastModifiedBy>
  <cp:revision>1</cp:revision>
  <dcterms:created xsi:type="dcterms:W3CDTF">2025-10-14T22:38:26Z</dcterms:created>
  <dcterms:modified xsi:type="dcterms:W3CDTF">2025-10-15T00:37:05Z</dcterms:modified>
</cp:coreProperties>
</file>